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089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1188720"/>
            <a:ext cx="4206240" cy="4206240"/>
          </a:xfrm>
          <a:prstGeom prst="ellipse">
            <a:avLst/>
          </a:prstGeom>
          <a:solidFill>
            <a:srgbClr val="1C7293">
              <a:alpha val="22000"/>
            </a:srgbClr>
          </a:solidFill>
          <a:ln/>
        </p:spPr>
      </p:sp>
      <p:sp>
        <p:nvSpPr>
          <p:cNvPr id="3" name="Shape 1"/>
          <p:cNvSpPr/>
          <p:nvPr/>
        </p:nvSpPr>
        <p:spPr>
          <a:xfrm>
            <a:off x="10332720" y="548640"/>
            <a:ext cx="2743200" cy="2743200"/>
          </a:xfrm>
          <a:prstGeom prst="ellipse">
            <a:avLst/>
          </a:prstGeom>
          <a:solidFill>
            <a:srgbClr val="065A82">
              <a:alpha val="35000"/>
            </a:srgbClr>
          </a:solidFill>
          <a:ln/>
        </p:spPr>
      </p:sp>
      <p:sp>
        <p:nvSpPr>
          <p:cNvPr id="4" name="Shape 2"/>
          <p:cNvSpPr/>
          <p:nvPr/>
        </p:nvSpPr>
        <p:spPr>
          <a:xfrm>
            <a:off x="-1280160" y="4572000"/>
            <a:ext cx="3474720" cy="3474720"/>
          </a:xfrm>
          <a:prstGeom prst="ellipse">
            <a:avLst/>
          </a:prstGeom>
          <a:solidFill>
            <a:srgbClr val="1C7293">
              <a:alpha val="18000"/>
            </a:srgbClr>
          </a:solidFill>
          <a:ln/>
        </p:spPr>
      </p:sp>
      <p:sp>
        <p:nvSpPr>
          <p:cNvPr id="5" name="Text 3"/>
          <p:cNvSpPr txBox="1"/>
          <p:nvPr/>
        </p:nvSpPr>
        <p:spPr>
          <a:xfrm>
            <a:off x="731520" y="2148840"/>
            <a:ext cx="9144000" cy="365760"/>
          </a:xfrm>
          <a:prstGeom prst="rect">
            <a:avLst/>
          </a:prstGeom>
          <a:noFill/>
          <a:ln/>
        </p:spPr>
        <p:txBody>
          <a:bodyPr wrap="square" lIns="0" tIns="0" rIns="0" bIns="0" rtlCol="0" anchor="ctr"/>
          <a:lstStyle/>
          <a:p>
            <a:pPr marL="0" indent="0">
              <a:buNone/>
            </a:pPr>
            <a:r>
              <a:rPr lang="en-US" sz="1300" b="1" kern="0" spc="200" dirty="0">
                <a:solidFill>
                  <a:srgbClr val="8FD3E8"/>
                </a:solidFill>
                <a:latin typeface="Calibri" pitchFamily="34" charset="0"/>
                <a:ea typeface="Calibri" pitchFamily="34" charset="-122"/>
                <a:cs typeface="Calibri" pitchFamily="34" charset="-120"/>
              </a:rPr>
              <a:t>REVIEW 1 REPORT  ·  APPROX. 35% COMPLETION</a:t>
            </a:r>
            <a:endParaRPr lang="en-US" sz="1300" dirty="0"/>
          </a:p>
        </p:txBody>
      </p:sp>
      <p:sp>
        <p:nvSpPr>
          <p:cNvPr id="6" name="Text 4"/>
          <p:cNvSpPr txBox="1"/>
          <p:nvPr/>
        </p:nvSpPr>
        <p:spPr>
          <a:xfrm>
            <a:off x="731520" y="2560320"/>
            <a:ext cx="10241280" cy="182880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Ownership-Aware Idle Cloud</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Resource Reclamation Workflow</a:t>
            </a:r>
            <a:endParaRPr lang="en-US" sz="4200" dirty="0"/>
          </a:p>
        </p:txBody>
      </p:sp>
      <p:sp>
        <p:nvSpPr>
          <p:cNvPr id="7" name="Text 5"/>
          <p:cNvSpPr txBox="1"/>
          <p:nvPr/>
        </p:nvSpPr>
        <p:spPr>
          <a:xfrm>
            <a:off x="731520" y="4251960"/>
            <a:ext cx="9144000" cy="4572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for University Cloud Laboratories</a:t>
            </a:r>
            <a:endParaRPr lang="en-US" sz="1800" dirty="0"/>
          </a:p>
        </p:txBody>
      </p:sp>
      <p:sp>
        <p:nvSpPr>
          <p:cNvPr id="8" name="Shape 6"/>
          <p:cNvSpPr/>
          <p:nvPr/>
        </p:nvSpPr>
        <p:spPr>
          <a:xfrm>
            <a:off x="777240" y="5074920"/>
            <a:ext cx="2011680" cy="0"/>
          </a:xfrm>
          <a:prstGeom prst="line">
            <a:avLst/>
          </a:prstGeom>
          <a:noFill/>
          <a:ln w="31750">
            <a:solidFill>
              <a:srgbClr val="1C7293"/>
            </a:solidFill>
            <a:prstDash val="solid"/>
          </a:ln>
        </p:spPr>
      </p:sp>
      <p:sp>
        <p:nvSpPr>
          <p:cNvPr id="9" name="Text 7"/>
          <p:cNvSpPr txBox="1"/>
          <p:nvPr/>
        </p:nvSpPr>
        <p:spPr>
          <a:xfrm>
            <a:off x="731520" y="5257800"/>
            <a:ext cx="9601200" cy="457200"/>
          </a:xfrm>
          <a:prstGeom prst="rect">
            <a:avLst/>
          </a:prstGeom>
          <a:noFill/>
          <a:ln/>
        </p:spPr>
        <p:txBody>
          <a:bodyPr wrap="square" lIns="0" tIns="0" rIns="0" bIns="0" rtlCol="0" anchor="ctr"/>
          <a:lstStyle/>
          <a:p>
            <a:pPr marL="0" indent="0">
              <a:buNone/>
            </a:pPr>
            <a:r>
              <a:rPr lang="en-US" sz="1300" dirty="0">
                <a:solidFill>
                  <a:srgbClr val="B9C6E8"/>
                </a:solidFill>
                <a:latin typeface="Calibri" pitchFamily="34" charset="0"/>
                <a:ea typeface="Calibri" pitchFamily="34" charset="-122"/>
                <a:cs typeface="Calibri" pitchFamily="34" charset="-120"/>
              </a:rPr>
              <a:t>Reducing idle cloud spend safely — without stopping active coursework or research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01  ·  PROBLEM ANALYSIS</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Idle Cloud Resources Are Costly — But Risky to Reclaim</a:t>
            </a:r>
            <a:endParaRPr lang="en-US" sz="3000" dirty="0"/>
          </a:p>
        </p:txBody>
      </p:sp>
      <p:sp>
        <p:nvSpPr>
          <p:cNvPr id="4" name="Text 2"/>
          <p:cNvSpPr txBox="1"/>
          <p:nvPr/>
        </p:nvSpPr>
        <p:spPr>
          <a:xfrm>
            <a:off x="548640" y="1508760"/>
            <a:ext cx="6035040" cy="1371600"/>
          </a:xfrm>
          <a:prstGeom prst="rect">
            <a:avLst/>
          </a:prstGeom>
          <a:noFill/>
          <a:ln/>
        </p:spPr>
        <p:txBody>
          <a:bodyPr wrap="square" lIns="0" tIns="0" rIns="0" bIns="0" rtlCol="0" anchor="ctr"/>
          <a:lstStyle/>
          <a:p>
            <a:pPr marL="0" indent="0">
              <a:lnSpc>
                <a:spcPct val="125000"/>
              </a:lnSpc>
              <a:buNone/>
            </a:pPr>
            <a:r>
              <a:rPr lang="en-US" sz="1400" dirty="0">
                <a:solidFill>
                  <a:srgbClr val="4A5568"/>
                </a:solidFill>
                <a:latin typeface="Calibri" pitchFamily="34" charset="0"/>
                <a:ea typeface="Calibri" pitchFamily="34" charset="-122"/>
                <a:cs typeface="Calibri" pitchFamily="34" charset="-120"/>
              </a:rPr>
              <a:t>University cloud resources used for courses, labs, semesters, and projects often stay idle after they are no longer needed. Administrators cannot safely reclaim them because ownership and lifecycle status are unclear.</a:t>
            </a:r>
            <a:endParaRPr lang="en-US" sz="1400" dirty="0"/>
          </a:p>
        </p:txBody>
      </p:sp>
      <p:sp>
        <p:nvSpPr>
          <p:cNvPr id="5" name="Shape 3"/>
          <p:cNvSpPr/>
          <p:nvPr/>
        </p:nvSpPr>
        <p:spPr>
          <a:xfrm>
            <a:off x="548640" y="2971800"/>
            <a:ext cx="6035040" cy="1691640"/>
          </a:xfrm>
          <a:prstGeom prst="roundRect">
            <a:avLst>
              <a:gd name="adj" fmla="val 5405"/>
            </a:avLst>
          </a:prstGeom>
          <a:solidFill>
            <a:srgbClr val="EAF4FA"/>
          </a:solidFill>
          <a:ln/>
        </p:spPr>
      </p:sp>
      <p:sp>
        <p:nvSpPr>
          <p:cNvPr id="6" name="Text 4"/>
          <p:cNvSpPr txBox="1"/>
          <p:nvPr/>
        </p:nvSpPr>
        <p:spPr>
          <a:xfrm>
            <a:off x="822960" y="3127248"/>
            <a:ext cx="5486400" cy="274320"/>
          </a:xfrm>
          <a:prstGeom prst="rect">
            <a:avLst/>
          </a:prstGeom>
          <a:noFill/>
          <a:ln/>
        </p:spPr>
        <p:txBody>
          <a:bodyPr wrap="square" lIns="0" tIns="0" rIns="0" bIns="0"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PROJECT GOAL</a:t>
            </a:r>
            <a:endParaRPr lang="en-US" sz="1100" dirty="0"/>
          </a:p>
        </p:txBody>
      </p:sp>
      <p:sp>
        <p:nvSpPr>
          <p:cNvPr id="7" name="Text 5"/>
          <p:cNvSpPr txBox="1"/>
          <p:nvPr/>
        </p:nvSpPr>
        <p:spPr>
          <a:xfrm>
            <a:off x="822960" y="3429000"/>
            <a:ext cx="5486400" cy="1097280"/>
          </a:xfrm>
          <a:prstGeom prst="rect">
            <a:avLst/>
          </a:prstGeom>
          <a:noFill/>
          <a:ln/>
        </p:spPr>
        <p:txBody>
          <a:bodyPr wrap="square" lIns="0" tIns="0" rIns="0" bIns="0" rtlCol="0" anchor="ctr"/>
          <a:lstStyle/>
          <a:p>
            <a:pPr marL="0" indent="0">
              <a:lnSpc>
                <a:spcPct val="120000"/>
              </a:lnSpc>
              <a:buNone/>
            </a:pPr>
            <a:r>
              <a:rPr lang="en-US" sz="1450" b="1" dirty="0">
                <a:solidFill>
                  <a:srgbClr val="21295C"/>
                </a:solidFill>
                <a:latin typeface="Calibri" pitchFamily="34" charset="0"/>
                <a:ea typeface="Calibri" pitchFamily="34" charset="-122"/>
                <a:cs typeface="Calibri" pitchFamily="34" charset="-120"/>
              </a:rPr>
              <a:t>Reduce unnecessary monthly cloud costs while ensuring active workloads are never stopped or deleted by mistake.</a:t>
            </a:r>
            <a:endParaRPr lang="en-US" sz="1450" dirty="0"/>
          </a:p>
        </p:txBody>
      </p:sp>
      <p:sp>
        <p:nvSpPr>
          <p:cNvPr id="8" name="Shape 6"/>
          <p:cNvSpPr/>
          <p:nvPr/>
        </p:nvSpPr>
        <p:spPr>
          <a:xfrm>
            <a:off x="548640" y="4937760"/>
            <a:ext cx="6035040" cy="1463040"/>
          </a:xfrm>
          <a:prstGeom prst="roundRect">
            <a:avLst>
              <a:gd name="adj" fmla="val 6250"/>
            </a:avLst>
          </a:prstGeom>
          <a:solidFill>
            <a:srgbClr val="065A82"/>
          </a:solidFill>
          <a:ln/>
        </p:spPr>
      </p:sp>
      <p:sp>
        <p:nvSpPr>
          <p:cNvPr id="9" name="Text 7"/>
          <p:cNvSpPr txBox="1"/>
          <p:nvPr/>
        </p:nvSpPr>
        <p:spPr>
          <a:xfrm>
            <a:off x="822960" y="5102352"/>
            <a:ext cx="5486400" cy="274320"/>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WHY THIS MATTERS</a:t>
            </a:r>
            <a:endParaRPr lang="en-US" sz="1100" dirty="0"/>
          </a:p>
        </p:txBody>
      </p:sp>
      <p:sp>
        <p:nvSpPr>
          <p:cNvPr id="10" name="Text 8"/>
          <p:cNvSpPr txBox="1"/>
          <p:nvPr/>
        </p:nvSpPr>
        <p:spPr>
          <a:xfrm>
            <a:off x="822960" y="5413248"/>
            <a:ext cx="5486400" cy="914400"/>
          </a:xfrm>
          <a:prstGeom prst="rect">
            <a:avLst/>
          </a:prstGeom>
          <a:noFill/>
          <a:ln/>
        </p:spPr>
        <p:txBody>
          <a:bodyPr wrap="square" lIns="0" tIns="0" rIns="0" bIns="0" rtlCol="0" anchor="ctr"/>
          <a:lstStyle/>
          <a:p>
            <a:pPr marL="0" indent="0">
              <a:lnSpc>
                <a:spcPct val="120000"/>
              </a:lnSpc>
              <a:buNone/>
            </a:pPr>
            <a:r>
              <a:rPr lang="en-US" sz="1250" i="1" dirty="0">
                <a:solidFill>
                  <a:srgbClr val="FFFFFF"/>
                </a:solidFill>
                <a:latin typeface="Calibri" pitchFamily="34" charset="0"/>
                <a:ea typeface="Calibri" pitchFamily="34" charset="-122"/>
                <a:cs typeface="Calibri" pitchFamily="34" charset="-120"/>
              </a:rPr>
              <a:t>A course lab left running after the semester ends, or a research VM with no clear owner, quietly burns budget every month it goes unnoticed.</a:t>
            </a:r>
            <a:endParaRPr lang="en-US" sz="1250" dirty="0"/>
          </a:p>
        </p:txBody>
      </p:sp>
      <p:sp>
        <p:nvSpPr>
          <p:cNvPr id="11" name="Shape 9"/>
          <p:cNvSpPr/>
          <p:nvPr/>
        </p:nvSpPr>
        <p:spPr>
          <a:xfrm>
            <a:off x="6949440" y="1508760"/>
            <a:ext cx="4663440" cy="4892040"/>
          </a:xfrm>
          <a:prstGeom prst="roundRect">
            <a:avLst>
              <a:gd name="adj" fmla="val 2353"/>
            </a:avLst>
          </a:prstGeom>
          <a:solidFill>
            <a:srgbClr val="21295C"/>
          </a:solidFill>
          <a:ln/>
        </p:spPr>
      </p:sp>
      <p:sp>
        <p:nvSpPr>
          <p:cNvPr id="12" name="Text 10"/>
          <p:cNvSpPr txBox="1"/>
          <p:nvPr/>
        </p:nvSpPr>
        <p:spPr>
          <a:xfrm>
            <a:off x="7269480" y="1783080"/>
            <a:ext cx="4023360" cy="320040"/>
          </a:xfrm>
          <a:prstGeom prst="rect">
            <a:avLst/>
          </a:prstGeom>
          <a:noFill/>
          <a:ln/>
        </p:spPr>
        <p:txBody>
          <a:bodyPr wrap="square" lIns="0" tIns="0" rIns="0" bIns="0" rtlCol="0" anchor="ctr"/>
          <a:lstStyle/>
          <a:p>
            <a:pPr marL="0" indent="0">
              <a:buNone/>
            </a:pPr>
            <a:r>
              <a:rPr lang="en-US" sz="1200" b="1" kern="0" spc="150" dirty="0">
                <a:solidFill>
                  <a:srgbClr val="8FD3E8"/>
                </a:solidFill>
                <a:latin typeface="Calibri" pitchFamily="34" charset="0"/>
                <a:ea typeface="Calibri" pitchFamily="34" charset="-122"/>
                <a:cs typeface="Calibri" pitchFamily="34" charset="-120"/>
              </a:rPr>
              <a:t>MULTI-SIGNAL APPROACH</a:t>
            </a:r>
            <a:endParaRPr lang="en-US" sz="1200" dirty="0"/>
          </a:p>
        </p:txBody>
      </p:sp>
      <p:sp>
        <p:nvSpPr>
          <p:cNvPr id="13" name="Text 11"/>
          <p:cNvSpPr txBox="1"/>
          <p:nvPr/>
        </p:nvSpPr>
        <p:spPr>
          <a:xfrm>
            <a:off x="7269480" y="2121408"/>
            <a:ext cx="4023360" cy="548640"/>
          </a:xfrm>
          <a:prstGeom prst="rect">
            <a:avLst/>
          </a:prstGeom>
          <a:noFill/>
          <a:ln/>
        </p:spPr>
        <p:txBody>
          <a:bodyPr wrap="square" lIns="0" tIns="0" rIns="0" bIns="0" rtlCol="0" anchor="ctr"/>
          <a:lstStyle/>
          <a:p>
            <a:pPr marL="0" indent="0">
              <a:lnSpc>
                <a:spcPct val="115000"/>
              </a:lnSpc>
              <a:buNone/>
            </a:pPr>
            <a:r>
              <a:rPr lang="en-US" sz="1150" i="1" dirty="0">
                <a:solidFill>
                  <a:srgbClr val="CADCFC"/>
                </a:solidFill>
                <a:latin typeface="Calibri" pitchFamily="34" charset="0"/>
                <a:ea typeface="Calibri" pitchFamily="34" charset="-122"/>
                <a:cs typeface="Calibri" pitchFamily="34" charset="-120"/>
              </a:rPr>
              <a:t>CPU utilisation alone is not enough. The system weighs eight signals together:</a:t>
            </a:r>
            <a:endParaRPr lang="en-US" sz="1150" dirty="0"/>
          </a:p>
        </p:txBody>
      </p:sp>
      <p:sp>
        <p:nvSpPr>
          <p:cNvPr id="14" name="Shape 12"/>
          <p:cNvSpPr/>
          <p:nvPr/>
        </p:nvSpPr>
        <p:spPr>
          <a:xfrm>
            <a:off x="7269480" y="2788920"/>
            <a:ext cx="292608" cy="292608"/>
          </a:xfrm>
          <a:prstGeom prst="ellipse">
            <a:avLst/>
          </a:prstGeom>
          <a:solidFill>
            <a:srgbClr val="1C7293"/>
          </a:solidFill>
          <a:ln/>
        </p:spPr>
      </p:sp>
      <p:sp>
        <p:nvSpPr>
          <p:cNvPr id="15" name="Text 13"/>
          <p:cNvSpPr txBox="1"/>
          <p:nvPr/>
        </p:nvSpPr>
        <p:spPr>
          <a:xfrm>
            <a:off x="7269480" y="278892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Text 14"/>
          <p:cNvSpPr txBox="1"/>
          <p:nvPr/>
        </p:nvSpPr>
        <p:spPr>
          <a:xfrm>
            <a:off x="7699248" y="277063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Resource inventory</a:t>
            </a:r>
            <a:endParaRPr lang="en-US" sz="1250" dirty="0"/>
          </a:p>
        </p:txBody>
      </p:sp>
      <p:sp>
        <p:nvSpPr>
          <p:cNvPr id="17" name="Shape 15"/>
          <p:cNvSpPr/>
          <p:nvPr/>
        </p:nvSpPr>
        <p:spPr>
          <a:xfrm>
            <a:off x="7269480" y="3200400"/>
            <a:ext cx="292608" cy="292608"/>
          </a:xfrm>
          <a:prstGeom prst="ellipse">
            <a:avLst/>
          </a:prstGeom>
          <a:solidFill>
            <a:srgbClr val="1C7293"/>
          </a:solidFill>
          <a:ln/>
        </p:spPr>
      </p:sp>
      <p:sp>
        <p:nvSpPr>
          <p:cNvPr id="18" name="Text 16"/>
          <p:cNvSpPr txBox="1"/>
          <p:nvPr/>
        </p:nvSpPr>
        <p:spPr>
          <a:xfrm>
            <a:off x="7269480" y="320040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txBox="1"/>
          <p:nvPr/>
        </p:nvSpPr>
        <p:spPr>
          <a:xfrm>
            <a:off x="7699248" y="318211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CPU / memory / network utilisation</a:t>
            </a:r>
            <a:endParaRPr lang="en-US" sz="1250" dirty="0"/>
          </a:p>
        </p:txBody>
      </p:sp>
      <p:sp>
        <p:nvSpPr>
          <p:cNvPr id="20" name="Shape 18"/>
          <p:cNvSpPr/>
          <p:nvPr/>
        </p:nvSpPr>
        <p:spPr>
          <a:xfrm>
            <a:off x="7269480" y="3611880"/>
            <a:ext cx="292608" cy="292608"/>
          </a:xfrm>
          <a:prstGeom prst="ellipse">
            <a:avLst/>
          </a:prstGeom>
          <a:solidFill>
            <a:srgbClr val="1C7293"/>
          </a:solidFill>
          <a:ln/>
        </p:spPr>
      </p:sp>
      <p:sp>
        <p:nvSpPr>
          <p:cNvPr id="21" name="Text 19"/>
          <p:cNvSpPr txBox="1"/>
          <p:nvPr/>
        </p:nvSpPr>
        <p:spPr>
          <a:xfrm>
            <a:off x="7269480" y="361188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7699248" y="359359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Resource tags</a:t>
            </a:r>
            <a:endParaRPr lang="en-US" sz="1250" dirty="0"/>
          </a:p>
        </p:txBody>
      </p:sp>
      <p:sp>
        <p:nvSpPr>
          <p:cNvPr id="23" name="Shape 21"/>
          <p:cNvSpPr/>
          <p:nvPr/>
        </p:nvSpPr>
        <p:spPr>
          <a:xfrm>
            <a:off x="7269480" y="4023360"/>
            <a:ext cx="292608" cy="292608"/>
          </a:xfrm>
          <a:prstGeom prst="ellipse">
            <a:avLst/>
          </a:prstGeom>
          <a:solidFill>
            <a:srgbClr val="1C7293"/>
          </a:solidFill>
          <a:ln/>
        </p:spPr>
      </p:sp>
      <p:sp>
        <p:nvSpPr>
          <p:cNvPr id="24" name="Text 22"/>
          <p:cNvSpPr txBox="1"/>
          <p:nvPr/>
        </p:nvSpPr>
        <p:spPr>
          <a:xfrm>
            <a:off x="7269480" y="402336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7699248" y="400507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Resource owner</a:t>
            </a:r>
            <a:endParaRPr lang="en-US" sz="1250" dirty="0"/>
          </a:p>
        </p:txBody>
      </p:sp>
      <p:sp>
        <p:nvSpPr>
          <p:cNvPr id="26" name="Shape 24"/>
          <p:cNvSpPr/>
          <p:nvPr/>
        </p:nvSpPr>
        <p:spPr>
          <a:xfrm>
            <a:off x="7269480" y="4434840"/>
            <a:ext cx="292608" cy="292608"/>
          </a:xfrm>
          <a:prstGeom prst="ellipse">
            <a:avLst/>
          </a:prstGeom>
          <a:solidFill>
            <a:srgbClr val="1C7293"/>
          </a:solidFill>
          <a:ln/>
        </p:spPr>
      </p:sp>
      <p:sp>
        <p:nvSpPr>
          <p:cNvPr id="27" name="Text 25"/>
          <p:cNvSpPr txBox="1"/>
          <p:nvPr/>
        </p:nvSpPr>
        <p:spPr>
          <a:xfrm>
            <a:off x="7269480" y="443484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7699248" y="441655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Course &amp; semester information</a:t>
            </a:r>
            <a:endParaRPr lang="en-US" sz="1250" dirty="0"/>
          </a:p>
        </p:txBody>
      </p:sp>
      <p:sp>
        <p:nvSpPr>
          <p:cNvPr id="29" name="Shape 27"/>
          <p:cNvSpPr/>
          <p:nvPr/>
        </p:nvSpPr>
        <p:spPr>
          <a:xfrm>
            <a:off x="7269480" y="4846320"/>
            <a:ext cx="292608" cy="292608"/>
          </a:xfrm>
          <a:prstGeom prst="ellipse">
            <a:avLst/>
          </a:prstGeom>
          <a:solidFill>
            <a:srgbClr val="1C7293"/>
          </a:solidFill>
          <a:ln/>
        </p:spPr>
      </p:sp>
      <p:sp>
        <p:nvSpPr>
          <p:cNvPr id="30" name="Text 28"/>
          <p:cNvSpPr txBox="1"/>
          <p:nvPr/>
        </p:nvSpPr>
        <p:spPr>
          <a:xfrm>
            <a:off x="7269480" y="484632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7699248" y="482803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Environment calendar</a:t>
            </a:r>
            <a:endParaRPr lang="en-US" sz="1250" dirty="0"/>
          </a:p>
        </p:txBody>
      </p:sp>
      <p:sp>
        <p:nvSpPr>
          <p:cNvPr id="32" name="Shape 30"/>
          <p:cNvSpPr/>
          <p:nvPr/>
        </p:nvSpPr>
        <p:spPr>
          <a:xfrm>
            <a:off x="7269480" y="5257800"/>
            <a:ext cx="292608" cy="292608"/>
          </a:xfrm>
          <a:prstGeom prst="ellipse">
            <a:avLst/>
          </a:prstGeom>
          <a:solidFill>
            <a:srgbClr val="1C7293"/>
          </a:solidFill>
          <a:ln/>
        </p:spPr>
      </p:sp>
      <p:sp>
        <p:nvSpPr>
          <p:cNvPr id="33" name="Text 31"/>
          <p:cNvSpPr txBox="1"/>
          <p:nvPr/>
        </p:nvSpPr>
        <p:spPr>
          <a:xfrm>
            <a:off x="7269480" y="525780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4" name="Text 32"/>
          <p:cNvSpPr txBox="1"/>
          <p:nvPr/>
        </p:nvSpPr>
        <p:spPr>
          <a:xfrm>
            <a:off x="7699248" y="523951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Approval status</a:t>
            </a:r>
            <a:endParaRPr lang="en-US" sz="1250" dirty="0"/>
          </a:p>
        </p:txBody>
      </p:sp>
      <p:sp>
        <p:nvSpPr>
          <p:cNvPr id="35" name="Shape 33"/>
          <p:cNvSpPr/>
          <p:nvPr/>
        </p:nvSpPr>
        <p:spPr>
          <a:xfrm>
            <a:off x="7269480" y="5669280"/>
            <a:ext cx="292608" cy="292608"/>
          </a:xfrm>
          <a:prstGeom prst="ellipse">
            <a:avLst/>
          </a:prstGeom>
          <a:solidFill>
            <a:srgbClr val="1C7293"/>
          </a:solidFill>
          <a:ln/>
        </p:spPr>
      </p:sp>
      <p:sp>
        <p:nvSpPr>
          <p:cNvPr id="36" name="Text 34"/>
          <p:cNvSpPr txBox="1"/>
          <p:nvPr/>
        </p:nvSpPr>
        <p:spPr>
          <a:xfrm>
            <a:off x="7269480" y="566928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7" name="Text 35"/>
          <p:cNvSpPr txBox="1"/>
          <p:nvPr/>
        </p:nvSpPr>
        <p:spPr>
          <a:xfrm>
            <a:off x="7699248" y="5650992"/>
            <a:ext cx="3657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Expiry rules</a:t>
            </a:r>
            <a:endParaRPr lang="en-US" sz="1250" dirty="0"/>
          </a:p>
        </p:txBody>
      </p:sp>
      <p:sp>
        <p:nvSpPr>
          <p:cNvPr id="38" name="Text 36"/>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02  ·  SYSTEM DESIGN</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End-to-End Reclamation Workflow</a:t>
            </a:r>
            <a:endParaRPr lang="en-US" sz="30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Designed to fit into the university's existing cloud management process rather than replace it.</a:t>
            </a:r>
            <a:endParaRPr lang="en-US" sz="1300" dirty="0"/>
          </a:p>
        </p:txBody>
      </p:sp>
      <p:sp>
        <p:nvSpPr>
          <p:cNvPr id="5" name="Shape 3"/>
          <p:cNvSpPr/>
          <p:nvPr/>
        </p:nvSpPr>
        <p:spPr>
          <a:xfrm>
            <a:off x="548640" y="2148840"/>
            <a:ext cx="1691640" cy="1005840"/>
          </a:xfrm>
          <a:prstGeom prst="roundRect">
            <a:avLst>
              <a:gd name="adj" fmla="val 7273"/>
            </a:avLst>
          </a:prstGeom>
          <a:solidFill>
            <a:srgbClr val="065A82"/>
          </a:solidFill>
          <a:ln/>
        </p:spPr>
      </p:sp>
      <p:sp>
        <p:nvSpPr>
          <p:cNvPr id="6" name="Text 4"/>
          <p:cNvSpPr txBox="1"/>
          <p:nvPr/>
        </p:nvSpPr>
        <p:spPr>
          <a:xfrm>
            <a:off x="621792" y="219456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594360" y="240487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Resource</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Inventory</a:t>
            </a:r>
            <a:endParaRPr lang="en-US" sz="1200" dirty="0"/>
          </a:p>
        </p:txBody>
      </p:sp>
      <p:sp>
        <p:nvSpPr>
          <p:cNvPr id="8" name="Text 6"/>
          <p:cNvSpPr txBox="1"/>
          <p:nvPr/>
        </p:nvSpPr>
        <p:spPr>
          <a:xfrm>
            <a:off x="2240280" y="214884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377440" y="2148840"/>
            <a:ext cx="1691640" cy="1005840"/>
          </a:xfrm>
          <a:prstGeom prst="roundRect">
            <a:avLst>
              <a:gd name="adj" fmla="val 7273"/>
            </a:avLst>
          </a:prstGeom>
          <a:solidFill>
            <a:srgbClr val="065A82"/>
          </a:solidFill>
          <a:ln/>
        </p:spPr>
      </p:sp>
      <p:sp>
        <p:nvSpPr>
          <p:cNvPr id="10" name="Text 8"/>
          <p:cNvSpPr txBox="1"/>
          <p:nvPr/>
        </p:nvSpPr>
        <p:spPr>
          <a:xfrm>
            <a:off x="2450592" y="219456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2423160" y="240487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Utilisation</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12" name="Text 10"/>
          <p:cNvSpPr txBox="1"/>
          <p:nvPr/>
        </p:nvSpPr>
        <p:spPr>
          <a:xfrm>
            <a:off x="4069080" y="214884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4206240" y="2148840"/>
            <a:ext cx="1691640" cy="1005840"/>
          </a:xfrm>
          <a:prstGeom prst="roundRect">
            <a:avLst>
              <a:gd name="adj" fmla="val 7273"/>
            </a:avLst>
          </a:prstGeom>
          <a:solidFill>
            <a:srgbClr val="065A82"/>
          </a:solidFill>
          <a:ln/>
        </p:spPr>
      </p:sp>
      <p:sp>
        <p:nvSpPr>
          <p:cNvPr id="14" name="Text 12"/>
          <p:cNvSpPr txBox="1"/>
          <p:nvPr/>
        </p:nvSpPr>
        <p:spPr>
          <a:xfrm>
            <a:off x="4279392" y="219456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4251960" y="240487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Ownership</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16" name="Text 14"/>
          <p:cNvSpPr txBox="1"/>
          <p:nvPr/>
        </p:nvSpPr>
        <p:spPr>
          <a:xfrm>
            <a:off x="5897880" y="214884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035040" y="2148840"/>
            <a:ext cx="1691640" cy="1005840"/>
          </a:xfrm>
          <a:prstGeom prst="roundRect">
            <a:avLst>
              <a:gd name="adj" fmla="val 7273"/>
            </a:avLst>
          </a:prstGeom>
          <a:solidFill>
            <a:srgbClr val="065A82"/>
          </a:solidFill>
          <a:ln/>
        </p:spPr>
      </p:sp>
      <p:sp>
        <p:nvSpPr>
          <p:cNvPr id="18" name="Text 16"/>
          <p:cNvSpPr txBox="1"/>
          <p:nvPr/>
        </p:nvSpPr>
        <p:spPr>
          <a:xfrm>
            <a:off x="6108192" y="219456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6080760" y="240487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Tag</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p:txBody>
      </p:sp>
      <p:sp>
        <p:nvSpPr>
          <p:cNvPr id="20" name="Text 18"/>
          <p:cNvSpPr txBox="1"/>
          <p:nvPr/>
        </p:nvSpPr>
        <p:spPr>
          <a:xfrm>
            <a:off x="7726680" y="214884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7863840" y="2148840"/>
            <a:ext cx="1691640" cy="1005840"/>
          </a:xfrm>
          <a:prstGeom prst="roundRect">
            <a:avLst>
              <a:gd name="adj" fmla="val 7273"/>
            </a:avLst>
          </a:prstGeom>
          <a:solidFill>
            <a:srgbClr val="065A82"/>
          </a:solidFill>
          <a:ln/>
        </p:spPr>
      </p:sp>
      <p:sp>
        <p:nvSpPr>
          <p:cNvPr id="22" name="Text 20"/>
          <p:cNvSpPr txBox="1"/>
          <p:nvPr/>
        </p:nvSpPr>
        <p:spPr>
          <a:xfrm>
            <a:off x="7936992" y="219456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5</a:t>
            </a:r>
            <a:endParaRPr lang="en-US" sz="1100" dirty="0"/>
          </a:p>
        </p:txBody>
      </p:sp>
      <p:sp>
        <p:nvSpPr>
          <p:cNvPr id="23" name="Text 21"/>
          <p:cNvSpPr txBox="1"/>
          <p:nvPr/>
        </p:nvSpPr>
        <p:spPr>
          <a:xfrm>
            <a:off x="7909560" y="240487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Calendar</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24" name="Text 22"/>
          <p:cNvSpPr txBox="1"/>
          <p:nvPr/>
        </p:nvSpPr>
        <p:spPr>
          <a:xfrm>
            <a:off x="9555480" y="214884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9692640" y="2148840"/>
            <a:ext cx="1691640" cy="1005840"/>
          </a:xfrm>
          <a:prstGeom prst="roundRect">
            <a:avLst>
              <a:gd name="adj" fmla="val 7273"/>
            </a:avLst>
          </a:prstGeom>
          <a:solidFill>
            <a:srgbClr val="065A82"/>
          </a:solidFill>
          <a:ln/>
        </p:spPr>
      </p:sp>
      <p:sp>
        <p:nvSpPr>
          <p:cNvPr id="26" name="Text 24"/>
          <p:cNvSpPr txBox="1"/>
          <p:nvPr/>
        </p:nvSpPr>
        <p:spPr>
          <a:xfrm>
            <a:off x="9765792" y="219456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6</a:t>
            </a:r>
            <a:endParaRPr lang="en-US" sz="1100" dirty="0"/>
          </a:p>
        </p:txBody>
      </p:sp>
      <p:sp>
        <p:nvSpPr>
          <p:cNvPr id="27" name="Text 25"/>
          <p:cNvSpPr txBox="1"/>
          <p:nvPr/>
        </p:nvSpPr>
        <p:spPr>
          <a:xfrm>
            <a:off x="9738360" y="240487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Idle Candidate</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Detection</a:t>
            </a:r>
            <a:endParaRPr lang="en-US" sz="1200" dirty="0"/>
          </a:p>
        </p:txBody>
      </p:sp>
      <p:sp>
        <p:nvSpPr>
          <p:cNvPr id="28" name="Shape 26"/>
          <p:cNvSpPr/>
          <p:nvPr/>
        </p:nvSpPr>
        <p:spPr>
          <a:xfrm>
            <a:off x="1463040" y="3794760"/>
            <a:ext cx="1691640" cy="1005840"/>
          </a:xfrm>
          <a:prstGeom prst="roundRect">
            <a:avLst>
              <a:gd name="adj" fmla="val 7273"/>
            </a:avLst>
          </a:prstGeom>
          <a:solidFill>
            <a:srgbClr val="1C7293"/>
          </a:solidFill>
          <a:ln/>
        </p:spPr>
      </p:sp>
      <p:sp>
        <p:nvSpPr>
          <p:cNvPr id="29" name="Text 27"/>
          <p:cNvSpPr txBox="1"/>
          <p:nvPr/>
        </p:nvSpPr>
        <p:spPr>
          <a:xfrm>
            <a:off x="1536192" y="384048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7</a:t>
            </a:r>
            <a:endParaRPr lang="en-US" sz="1100" dirty="0"/>
          </a:p>
        </p:txBody>
      </p:sp>
      <p:sp>
        <p:nvSpPr>
          <p:cNvPr id="30" name="Text 28"/>
          <p:cNvSpPr txBox="1"/>
          <p:nvPr/>
        </p:nvSpPr>
        <p:spPr>
          <a:xfrm>
            <a:off x="1508760" y="405079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Owner</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Approval</a:t>
            </a:r>
            <a:endParaRPr lang="en-US" sz="1200" dirty="0"/>
          </a:p>
        </p:txBody>
      </p:sp>
      <p:sp>
        <p:nvSpPr>
          <p:cNvPr id="31" name="Text 29"/>
          <p:cNvSpPr txBox="1"/>
          <p:nvPr/>
        </p:nvSpPr>
        <p:spPr>
          <a:xfrm>
            <a:off x="3154680" y="379476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3291840" y="3794760"/>
            <a:ext cx="1691640" cy="1005840"/>
          </a:xfrm>
          <a:prstGeom prst="roundRect">
            <a:avLst>
              <a:gd name="adj" fmla="val 7273"/>
            </a:avLst>
          </a:prstGeom>
          <a:solidFill>
            <a:srgbClr val="1C7293"/>
          </a:solidFill>
          <a:ln/>
        </p:spPr>
      </p:sp>
      <p:sp>
        <p:nvSpPr>
          <p:cNvPr id="33" name="Text 31"/>
          <p:cNvSpPr txBox="1"/>
          <p:nvPr/>
        </p:nvSpPr>
        <p:spPr>
          <a:xfrm>
            <a:off x="3364992" y="384048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8</a:t>
            </a:r>
            <a:endParaRPr lang="en-US" sz="1100" dirty="0"/>
          </a:p>
        </p:txBody>
      </p:sp>
      <p:sp>
        <p:nvSpPr>
          <p:cNvPr id="34" name="Text 32"/>
          <p:cNvSpPr txBox="1"/>
          <p:nvPr/>
        </p:nvSpPr>
        <p:spPr>
          <a:xfrm>
            <a:off x="3337560" y="405079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Reminder /</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Expiry</a:t>
            </a:r>
            <a:endParaRPr lang="en-US" sz="1200" dirty="0"/>
          </a:p>
        </p:txBody>
      </p:sp>
      <p:sp>
        <p:nvSpPr>
          <p:cNvPr id="35" name="Text 33"/>
          <p:cNvSpPr txBox="1"/>
          <p:nvPr/>
        </p:nvSpPr>
        <p:spPr>
          <a:xfrm>
            <a:off x="4983480" y="379476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36" name="Shape 34"/>
          <p:cNvSpPr/>
          <p:nvPr/>
        </p:nvSpPr>
        <p:spPr>
          <a:xfrm>
            <a:off x="5120640" y="3794760"/>
            <a:ext cx="1691640" cy="1005840"/>
          </a:xfrm>
          <a:prstGeom prst="roundRect">
            <a:avLst>
              <a:gd name="adj" fmla="val 7273"/>
            </a:avLst>
          </a:prstGeom>
          <a:solidFill>
            <a:srgbClr val="1C7293"/>
          </a:solidFill>
          <a:ln/>
        </p:spPr>
      </p:sp>
      <p:sp>
        <p:nvSpPr>
          <p:cNvPr id="37" name="Text 35"/>
          <p:cNvSpPr txBox="1"/>
          <p:nvPr/>
        </p:nvSpPr>
        <p:spPr>
          <a:xfrm>
            <a:off x="5193792" y="384048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9</a:t>
            </a:r>
            <a:endParaRPr lang="en-US" sz="1100" dirty="0"/>
          </a:p>
        </p:txBody>
      </p:sp>
      <p:sp>
        <p:nvSpPr>
          <p:cNvPr id="38" name="Text 36"/>
          <p:cNvSpPr txBox="1"/>
          <p:nvPr/>
        </p:nvSpPr>
        <p:spPr>
          <a:xfrm>
            <a:off x="5166360" y="405079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Safe</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Reclamation</a:t>
            </a:r>
            <a:endParaRPr lang="en-US" sz="1200" dirty="0"/>
          </a:p>
        </p:txBody>
      </p:sp>
      <p:sp>
        <p:nvSpPr>
          <p:cNvPr id="39" name="Text 37"/>
          <p:cNvSpPr txBox="1"/>
          <p:nvPr/>
        </p:nvSpPr>
        <p:spPr>
          <a:xfrm>
            <a:off x="6812280" y="379476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40" name="Shape 38"/>
          <p:cNvSpPr/>
          <p:nvPr/>
        </p:nvSpPr>
        <p:spPr>
          <a:xfrm>
            <a:off x="6949440" y="3794760"/>
            <a:ext cx="1691640" cy="1005840"/>
          </a:xfrm>
          <a:prstGeom prst="roundRect">
            <a:avLst>
              <a:gd name="adj" fmla="val 7273"/>
            </a:avLst>
          </a:prstGeom>
          <a:solidFill>
            <a:srgbClr val="1C7293"/>
          </a:solidFill>
          <a:ln/>
        </p:spPr>
      </p:sp>
      <p:sp>
        <p:nvSpPr>
          <p:cNvPr id="41" name="Text 39"/>
          <p:cNvSpPr txBox="1"/>
          <p:nvPr/>
        </p:nvSpPr>
        <p:spPr>
          <a:xfrm>
            <a:off x="7022592" y="384048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10</a:t>
            </a:r>
            <a:endParaRPr lang="en-US" sz="1100" dirty="0"/>
          </a:p>
        </p:txBody>
      </p:sp>
      <p:sp>
        <p:nvSpPr>
          <p:cNvPr id="42" name="Text 40"/>
          <p:cNvSpPr txBox="1"/>
          <p:nvPr/>
        </p:nvSpPr>
        <p:spPr>
          <a:xfrm>
            <a:off x="6995160" y="405079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Cost Saving</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Measurement</a:t>
            </a:r>
            <a:endParaRPr lang="en-US" sz="1200" dirty="0"/>
          </a:p>
        </p:txBody>
      </p:sp>
      <p:sp>
        <p:nvSpPr>
          <p:cNvPr id="43" name="Text 41"/>
          <p:cNvSpPr txBox="1"/>
          <p:nvPr/>
        </p:nvSpPr>
        <p:spPr>
          <a:xfrm>
            <a:off x="8641080" y="3794760"/>
            <a:ext cx="137160" cy="1005840"/>
          </a:xfrm>
          <a:prstGeom prst="rect">
            <a:avLst/>
          </a:prstGeom>
          <a:noFill/>
          <a:ln/>
        </p:spPr>
        <p:txBody>
          <a:bodyPr wrap="square" lIns="0" tIns="0" rIns="0" bIns="0" rtlCol="0" anchor="ctr"/>
          <a:lstStyle/>
          <a:p>
            <a:pPr marL="0" indent="0" algn="ctr">
              <a:buNone/>
            </a:pPr>
            <a:r>
              <a:rPr lang="en-US" sz="1600" b="1" dirty="0">
                <a:solidFill>
                  <a:srgbClr val="4A5568"/>
                </a:solidFill>
                <a:latin typeface="Calibri" pitchFamily="34" charset="0"/>
                <a:ea typeface="Calibri" pitchFamily="34" charset="-122"/>
                <a:cs typeface="Calibri" pitchFamily="34" charset="-120"/>
              </a:rPr>
              <a:t>→</a:t>
            </a:r>
            <a:endParaRPr lang="en-US" sz="1600" dirty="0"/>
          </a:p>
        </p:txBody>
      </p:sp>
      <p:sp>
        <p:nvSpPr>
          <p:cNvPr id="44" name="Shape 42"/>
          <p:cNvSpPr/>
          <p:nvPr/>
        </p:nvSpPr>
        <p:spPr>
          <a:xfrm>
            <a:off x="8778240" y="3794760"/>
            <a:ext cx="1691640" cy="1005840"/>
          </a:xfrm>
          <a:prstGeom prst="roundRect">
            <a:avLst>
              <a:gd name="adj" fmla="val 7273"/>
            </a:avLst>
          </a:prstGeom>
          <a:solidFill>
            <a:srgbClr val="1C7293"/>
          </a:solidFill>
          <a:ln/>
        </p:spPr>
      </p:sp>
      <p:sp>
        <p:nvSpPr>
          <p:cNvPr id="45" name="Text 43"/>
          <p:cNvSpPr txBox="1"/>
          <p:nvPr/>
        </p:nvSpPr>
        <p:spPr>
          <a:xfrm>
            <a:off x="8851392" y="3840480"/>
            <a:ext cx="457200" cy="27432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11</a:t>
            </a:r>
            <a:endParaRPr lang="en-US" sz="1100" dirty="0"/>
          </a:p>
        </p:txBody>
      </p:sp>
      <p:sp>
        <p:nvSpPr>
          <p:cNvPr id="46" name="Text 44"/>
          <p:cNvSpPr txBox="1"/>
          <p:nvPr/>
        </p:nvSpPr>
        <p:spPr>
          <a:xfrm>
            <a:off x="8823960" y="4050792"/>
            <a:ext cx="1600200" cy="68580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Audit</a:t>
            </a:r>
            <a:endParaRPr lang="en-US" sz="1200" dirty="0"/>
          </a:p>
          <a:p>
            <a:pPr marL="0" indent="0" algn="ctr">
              <a:lnSpc>
                <a:spcPct val="105000"/>
              </a:lnSpc>
              <a:buNone/>
            </a:pPr>
            <a:r>
              <a:rPr lang="en-US" sz="1200" b="1" dirty="0">
                <a:solidFill>
                  <a:srgbClr val="FFFFFF"/>
                </a:solidFill>
                <a:latin typeface="Calibri" pitchFamily="34" charset="0"/>
                <a:ea typeface="Calibri" pitchFamily="34" charset="-122"/>
                <a:cs typeface="Calibri" pitchFamily="34" charset="-120"/>
              </a:rPr>
              <a:t>Logging</a:t>
            </a:r>
            <a:endParaRPr lang="en-US" sz="1200" dirty="0"/>
          </a:p>
        </p:txBody>
      </p:sp>
      <p:sp>
        <p:nvSpPr>
          <p:cNvPr id="47" name="Shape 45"/>
          <p:cNvSpPr/>
          <p:nvPr/>
        </p:nvSpPr>
        <p:spPr>
          <a:xfrm>
            <a:off x="548640" y="5120640"/>
            <a:ext cx="11064240" cy="685800"/>
          </a:xfrm>
          <a:prstGeom prst="roundRect">
            <a:avLst>
              <a:gd name="adj" fmla="val 10667"/>
            </a:avLst>
          </a:prstGeom>
          <a:solidFill>
            <a:srgbClr val="EAF4FA"/>
          </a:solidFill>
          <a:ln/>
        </p:spPr>
      </p:sp>
      <p:sp>
        <p:nvSpPr>
          <p:cNvPr id="48" name="Text 46"/>
          <p:cNvSpPr txBox="1"/>
          <p:nvPr/>
        </p:nvSpPr>
        <p:spPr>
          <a:xfrm>
            <a:off x="777240" y="5120640"/>
            <a:ext cx="10607040" cy="685800"/>
          </a:xfrm>
          <a:prstGeom prst="rect">
            <a:avLst/>
          </a:prstGeom>
          <a:noFill/>
          <a:ln/>
        </p:spPr>
        <p:txBody>
          <a:bodyPr wrap="square" lIns="0" tIns="0" rIns="0" bIns="0" rtlCol="0" anchor="ctr"/>
          <a:lstStyle/>
          <a:p>
            <a:pPr marL="0" indent="0">
              <a:buNone/>
            </a:pPr>
            <a:r>
              <a:rPr lang="en-US" sz="1250" i="1" dirty="0">
                <a:solidFill>
                  <a:srgbClr val="21295C"/>
                </a:solidFill>
                <a:latin typeface="Calibri" pitchFamily="34" charset="0"/>
                <a:ea typeface="Calibri" pitchFamily="34" charset="-122"/>
                <a:cs typeface="Calibri" pitchFamily="34" charset="-120"/>
              </a:rPr>
              <a:t>The workflow moves a resource from raw inventory data through ownership-aware decisioning to a safe, auditable outcome — never a direct jump from “idle” to “deleted.”</a:t>
            </a:r>
            <a:endParaRPr lang="en-US" sz="1250" dirty="0"/>
          </a:p>
        </p:txBody>
      </p:sp>
      <p:sp>
        <p:nvSpPr>
          <p:cNvPr id="49" name="Text 4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USER ROLES</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Two Organisational Roles Drive the Workflow</a:t>
            </a:r>
            <a:endParaRPr lang="en-US" sz="3000" dirty="0"/>
          </a:p>
        </p:txBody>
      </p:sp>
      <p:sp>
        <p:nvSpPr>
          <p:cNvPr id="4" name="Shape 2"/>
          <p:cNvSpPr/>
          <p:nvPr/>
        </p:nvSpPr>
        <p:spPr>
          <a:xfrm>
            <a:off x="548640" y="1600200"/>
            <a:ext cx="5349240" cy="4617720"/>
          </a:xfrm>
          <a:prstGeom prst="roundRect">
            <a:avLst>
              <a:gd name="adj" fmla="val 2376"/>
            </a:avLst>
          </a:prstGeom>
          <a:solidFill>
            <a:srgbClr val="EAF4FA"/>
          </a:solidFill>
          <a:ln/>
        </p:spPr>
      </p:sp>
      <p:sp>
        <p:nvSpPr>
          <p:cNvPr id="5" name="Shape 3"/>
          <p:cNvSpPr/>
          <p:nvPr/>
        </p:nvSpPr>
        <p:spPr>
          <a:xfrm>
            <a:off x="548640" y="1600200"/>
            <a:ext cx="5349240" cy="822960"/>
          </a:xfrm>
          <a:prstGeom prst="roundRect">
            <a:avLst>
              <a:gd name="adj" fmla="val 13333"/>
            </a:avLst>
          </a:prstGeom>
          <a:solidFill>
            <a:srgbClr val="065A82"/>
          </a:solidFill>
          <a:ln/>
        </p:spPr>
      </p:sp>
      <p:sp>
        <p:nvSpPr>
          <p:cNvPr id="6" name="Shape 4"/>
          <p:cNvSpPr/>
          <p:nvPr/>
        </p:nvSpPr>
        <p:spPr>
          <a:xfrm>
            <a:off x="548640" y="2011680"/>
            <a:ext cx="5349240" cy="411480"/>
          </a:xfrm>
          <a:prstGeom prst="rect">
            <a:avLst/>
          </a:prstGeom>
          <a:solidFill>
            <a:srgbClr val="065A82"/>
          </a:solidFill>
          <a:ln/>
        </p:spPr>
      </p:sp>
      <p:sp>
        <p:nvSpPr>
          <p:cNvPr id="7" name="Text 5"/>
          <p:cNvSpPr txBox="1"/>
          <p:nvPr/>
        </p:nvSpPr>
        <p:spPr>
          <a:xfrm>
            <a:off x="868680" y="1709928"/>
            <a:ext cx="470916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Resource Owner / Faculty</a:t>
            </a:r>
            <a:endParaRPr lang="en-US" sz="1900" dirty="0"/>
          </a:p>
        </p:txBody>
      </p:sp>
      <p:sp>
        <p:nvSpPr>
          <p:cNvPr id="8" name="Text 6"/>
          <p:cNvSpPr txBox="1"/>
          <p:nvPr/>
        </p:nvSpPr>
        <p:spPr>
          <a:xfrm>
            <a:off x="868680" y="2075688"/>
            <a:ext cx="4709160" cy="292608"/>
          </a:xfrm>
          <a:prstGeom prst="rect">
            <a:avLst/>
          </a:prstGeom>
          <a:noFill/>
          <a:ln/>
        </p:spPr>
        <p:txBody>
          <a:bodyPr wrap="square" lIns="0" tIns="0" rIns="0" bIns="0" rtlCol="0" anchor="ctr"/>
          <a:lstStyle/>
          <a:p>
            <a:pPr marL="0" indent="0">
              <a:buNone/>
            </a:pPr>
            <a:r>
              <a:rPr lang="en-US" sz="1150" i="1" dirty="0">
                <a:solidFill>
                  <a:srgbClr val="F0F5FA"/>
                </a:solidFill>
                <a:latin typeface="Calibri" pitchFamily="34" charset="0"/>
                <a:ea typeface="Calibri" pitchFamily="34" charset="-122"/>
                <a:cs typeface="Calibri" pitchFamily="34" charset="-120"/>
              </a:rPr>
              <a:t>The person who owns or runs the workload</a:t>
            </a:r>
            <a:endParaRPr lang="en-US" sz="1150" dirty="0"/>
          </a:p>
        </p:txBody>
      </p:sp>
      <p:sp>
        <p:nvSpPr>
          <p:cNvPr id="9" name="Shape 7"/>
          <p:cNvSpPr/>
          <p:nvPr/>
        </p:nvSpPr>
        <p:spPr>
          <a:xfrm>
            <a:off x="868680" y="2697480"/>
            <a:ext cx="146304" cy="146304"/>
          </a:xfrm>
          <a:prstGeom prst="ellipse">
            <a:avLst/>
          </a:prstGeom>
          <a:solidFill>
            <a:srgbClr val="065A82"/>
          </a:solidFill>
          <a:ln/>
        </p:spPr>
      </p:sp>
      <p:sp>
        <p:nvSpPr>
          <p:cNvPr id="10" name="Text 8"/>
          <p:cNvSpPr txBox="1"/>
          <p:nvPr/>
        </p:nvSpPr>
        <p:spPr>
          <a:xfrm>
            <a:off x="1143000" y="2606040"/>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View owned resources</a:t>
            </a:r>
            <a:endParaRPr lang="en-US" sz="1300" dirty="0"/>
          </a:p>
        </p:txBody>
      </p:sp>
      <p:sp>
        <p:nvSpPr>
          <p:cNvPr id="11" name="Shape 9"/>
          <p:cNvSpPr/>
          <p:nvPr/>
        </p:nvSpPr>
        <p:spPr>
          <a:xfrm>
            <a:off x="868680" y="3182112"/>
            <a:ext cx="146304" cy="146304"/>
          </a:xfrm>
          <a:prstGeom prst="ellipse">
            <a:avLst/>
          </a:prstGeom>
          <a:solidFill>
            <a:srgbClr val="065A82"/>
          </a:solidFill>
          <a:ln/>
        </p:spPr>
      </p:sp>
      <p:sp>
        <p:nvSpPr>
          <p:cNvPr id="12" name="Text 10"/>
          <p:cNvSpPr txBox="1"/>
          <p:nvPr/>
        </p:nvSpPr>
        <p:spPr>
          <a:xfrm>
            <a:off x="1143000" y="3090672"/>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View why a resource is flagged idle</a:t>
            </a:r>
            <a:endParaRPr lang="en-US" sz="1300" dirty="0"/>
          </a:p>
        </p:txBody>
      </p:sp>
      <p:sp>
        <p:nvSpPr>
          <p:cNvPr id="13" name="Shape 11"/>
          <p:cNvSpPr/>
          <p:nvPr/>
        </p:nvSpPr>
        <p:spPr>
          <a:xfrm>
            <a:off x="868680" y="3666744"/>
            <a:ext cx="146304" cy="146304"/>
          </a:xfrm>
          <a:prstGeom prst="ellipse">
            <a:avLst/>
          </a:prstGeom>
          <a:solidFill>
            <a:srgbClr val="065A82"/>
          </a:solidFill>
          <a:ln/>
        </p:spPr>
      </p:sp>
      <p:sp>
        <p:nvSpPr>
          <p:cNvPr id="14" name="Text 12"/>
          <p:cNvSpPr txBox="1"/>
          <p:nvPr/>
        </p:nvSpPr>
        <p:spPr>
          <a:xfrm>
            <a:off x="1143000" y="3575304"/>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Approve reclamation</a:t>
            </a:r>
            <a:endParaRPr lang="en-US" sz="1300" dirty="0"/>
          </a:p>
        </p:txBody>
      </p:sp>
      <p:sp>
        <p:nvSpPr>
          <p:cNvPr id="15" name="Shape 13"/>
          <p:cNvSpPr/>
          <p:nvPr/>
        </p:nvSpPr>
        <p:spPr>
          <a:xfrm>
            <a:off x="868680" y="4151376"/>
            <a:ext cx="146304" cy="146304"/>
          </a:xfrm>
          <a:prstGeom prst="ellipse">
            <a:avLst/>
          </a:prstGeom>
          <a:solidFill>
            <a:srgbClr val="065A82"/>
          </a:solidFill>
          <a:ln/>
        </p:spPr>
      </p:sp>
      <p:sp>
        <p:nvSpPr>
          <p:cNvPr id="16" name="Text 14"/>
          <p:cNvSpPr txBox="1"/>
          <p:nvPr/>
        </p:nvSpPr>
        <p:spPr>
          <a:xfrm>
            <a:off x="1143000" y="4059936"/>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Keep a resource</a:t>
            </a:r>
            <a:endParaRPr lang="en-US" sz="1300" dirty="0"/>
          </a:p>
        </p:txBody>
      </p:sp>
      <p:sp>
        <p:nvSpPr>
          <p:cNvPr id="17" name="Shape 15"/>
          <p:cNvSpPr/>
          <p:nvPr/>
        </p:nvSpPr>
        <p:spPr>
          <a:xfrm>
            <a:off x="868680" y="4636008"/>
            <a:ext cx="146304" cy="146304"/>
          </a:xfrm>
          <a:prstGeom prst="ellipse">
            <a:avLst/>
          </a:prstGeom>
          <a:solidFill>
            <a:srgbClr val="065A82"/>
          </a:solidFill>
          <a:ln/>
        </p:spPr>
      </p:sp>
      <p:sp>
        <p:nvSpPr>
          <p:cNvPr id="18" name="Text 16"/>
          <p:cNvSpPr txBox="1"/>
          <p:nvPr/>
        </p:nvSpPr>
        <p:spPr>
          <a:xfrm>
            <a:off x="1143000" y="4544568"/>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Request an extension</a:t>
            </a:r>
            <a:endParaRPr lang="en-US" sz="1300" dirty="0"/>
          </a:p>
        </p:txBody>
      </p:sp>
      <p:sp>
        <p:nvSpPr>
          <p:cNvPr id="19" name="Shape 17"/>
          <p:cNvSpPr/>
          <p:nvPr/>
        </p:nvSpPr>
        <p:spPr>
          <a:xfrm>
            <a:off x="868680" y="5120640"/>
            <a:ext cx="146304" cy="146304"/>
          </a:xfrm>
          <a:prstGeom prst="ellipse">
            <a:avLst/>
          </a:prstGeom>
          <a:solidFill>
            <a:srgbClr val="065A82"/>
          </a:solidFill>
          <a:ln/>
        </p:spPr>
      </p:sp>
      <p:sp>
        <p:nvSpPr>
          <p:cNvPr id="20" name="Text 18"/>
          <p:cNvSpPr txBox="1"/>
          <p:nvPr/>
        </p:nvSpPr>
        <p:spPr>
          <a:xfrm>
            <a:off x="1143000" y="5029200"/>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View expiry information</a:t>
            </a:r>
            <a:endParaRPr lang="en-US" sz="1300" dirty="0"/>
          </a:p>
        </p:txBody>
      </p:sp>
      <p:sp>
        <p:nvSpPr>
          <p:cNvPr id="21" name="Shape 19"/>
          <p:cNvSpPr/>
          <p:nvPr/>
        </p:nvSpPr>
        <p:spPr>
          <a:xfrm>
            <a:off x="6263640" y="1600200"/>
            <a:ext cx="5349240" cy="4617720"/>
          </a:xfrm>
          <a:prstGeom prst="roundRect">
            <a:avLst>
              <a:gd name="adj" fmla="val 2376"/>
            </a:avLst>
          </a:prstGeom>
          <a:solidFill>
            <a:srgbClr val="EAF4FA"/>
          </a:solidFill>
          <a:ln/>
        </p:spPr>
      </p:sp>
      <p:sp>
        <p:nvSpPr>
          <p:cNvPr id="22" name="Shape 20"/>
          <p:cNvSpPr/>
          <p:nvPr/>
        </p:nvSpPr>
        <p:spPr>
          <a:xfrm>
            <a:off x="6263640" y="1600200"/>
            <a:ext cx="5349240" cy="822960"/>
          </a:xfrm>
          <a:prstGeom prst="roundRect">
            <a:avLst>
              <a:gd name="adj" fmla="val 13333"/>
            </a:avLst>
          </a:prstGeom>
          <a:solidFill>
            <a:srgbClr val="1C7293"/>
          </a:solidFill>
          <a:ln/>
        </p:spPr>
      </p:sp>
      <p:sp>
        <p:nvSpPr>
          <p:cNvPr id="23" name="Shape 21"/>
          <p:cNvSpPr/>
          <p:nvPr/>
        </p:nvSpPr>
        <p:spPr>
          <a:xfrm>
            <a:off x="6263640" y="2011680"/>
            <a:ext cx="5349240" cy="411480"/>
          </a:xfrm>
          <a:prstGeom prst="rect">
            <a:avLst/>
          </a:prstGeom>
          <a:solidFill>
            <a:srgbClr val="1C7293"/>
          </a:solidFill>
          <a:ln/>
        </p:spPr>
      </p:sp>
      <p:sp>
        <p:nvSpPr>
          <p:cNvPr id="24" name="Text 22"/>
          <p:cNvSpPr txBox="1"/>
          <p:nvPr/>
        </p:nvSpPr>
        <p:spPr>
          <a:xfrm>
            <a:off x="6583680" y="1709928"/>
            <a:ext cx="470916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Cloud Administrator</a:t>
            </a:r>
            <a:endParaRPr lang="en-US" sz="1900" dirty="0"/>
          </a:p>
        </p:txBody>
      </p:sp>
      <p:sp>
        <p:nvSpPr>
          <p:cNvPr id="25" name="Text 23"/>
          <p:cNvSpPr txBox="1"/>
          <p:nvPr/>
        </p:nvSpPr>
        <p:spPr>
          <a:xfrm>
            <a:off x="6583680" y="2075688"/>
            <a:ext cx="4709160" cy="292608"/>
          </a:xfrm>
          <a:prstGeom prst="rect">
            <a:avLst/>
          </a:prstGeom>
          <a:noFill/>
          <a:ln/>
        </p:spPr>
        <p:txBody>
          <a:bodyPr wrap="square" lIns="0" tIns="0" rIns="0" bIns="0" rtlCol="0" anchor="ctr"/>
          <a:lstStyle/>
          <a:p>
            <a:pPr marL="0" indent="0">
              <a:buNone/>
            </a:pPr>
            <a:r>
              <a:rPr lang="en-US" sz="1150" i="1" dirty="0">
                <a:solidFill>
                  <a:srgbClr val="F0F5FA"/>
                </a:solidFill>
                <a:latin typeface="Calibri" pitchFamily="34" charset="0"/>
                <a:ea typeface="Calibri" pitchFamily="34" charset="-122"/>
                <a:cs typeface="Calibri" pitchFamily="34" charset="-120"/>
              </a:rPr>
              <a:t>Oversees policy, exceptions, and outcomes</a:t>
            </a:r>
            <a:endParaRPr lang="en-US" sz="1150" dirty="0"/>
          </a:p>
        </p:txBody>
      </p:sp>
      <p:sp>
        <p:nvSpPr>
          <p:cNvPr id="26" name="Shape 24"/>
          <p:cNvSpPr/>
          <p:nvPr/>
        </p:nvSpPr>
        <p:spPr>
          <a:xfrm>
            <a:off x="6583680" y="2697480"/>
            <a:ext cx="146304" cy="146304"/>
          </a:xfrm>
          <a:prstGeom prst="ellipse">
            <a:avLst/>
          </a:prstGeom>
          <a:solidFill>
            <a:srgbClr val="1C7293"/>
          </a:solidFill>
          <a:ln/>
        </p:spPr>
      </p:sp>
      <p:sp>
        <p:nvSpPr>
          <p:cNvPr id="27" name="Text 25"/>
          <p:cNvSpPr txBox="1"/>
          <p:nvPr/>
        </p:nvSpPr>
        <p:spPr>
          <a:xfrm>
            <a:off x="6858000" y="2606040"/>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View all resources</a:t>
            </a:r>
            <a:endParaRPr lang="en-US" sz="1300" dirty="0"/>
          </a:p>
        </p:txBody>
      </p:sp>
      <p:sp>
        <p:nvSpPr>
          <p:cNvPr id="28" name="Shape 26"/>
          <p:cNvSpPr/>
          <p:nvPr/>
        </p:nvSpPr>
        <p:spPr>
          <a:xfrm>
            <a:off x="6583680" y="3182112"/>
            <a:ext cx="146304" cy="146304"/>
          </a:xfrm>
          <a:prstGeom prst="ellipse">
            <a:avLst/>
          </a:prstGeom>
          <a:solidFill>
            <a:srgbClr val="1C7293"/>
          </a:solidFill>
          <a:ln/>
        </p:spPr>
      </p:sp>
      <p:sp>
        <p:nvSpPr>
          <p:cNvPr id="29" name="Text 27"/>
          <p:cNvSpPr txBox="1"/>
          <p:nvPr/>
        </p:nvSpPr>
        <p:spPr>
          <a:xfrm>
            <a:off x="6858000" y="3090672"/>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Review idle candidates</a:t>
            </a:r>
            <a:endParaRPr lang="en-US" sz="1300" dirty="0"/>
          </a:p>
        </p:txBody>
      </p:sp>
      <p:sp>
        <p:nvSpPr>
          <p:cNvPr id="30" name="Shape 28"/>
          <p:cNvSpPr/>
          <p:nvPr/>
        </p:nvSpPr>
        <p:spPr>
          <a:xfrm>
            <a:off x="6583680" y="3666744"/>
            <a:ext cx="146304" cy="146304"/>
          </a:xfrm>
          <a:prstGeom prst="ellipse">
            <a:avLst/>
          </a:prstGeom>
          <a:solidFill>
            <a:srgbClr val="1C7293"/>
          </a:solidFill>
          <a:ln/>
        </p:spPr>
      </p:sp>
      <p:sp>
        <p:nvSpPr>
          <p:cNvPr id="31" name="Text 29"/>
          <p:cNvSpPr txBox="1"/>
          <p:nvPr/>
        </p:nvSpPr>
        <p:spPr>
          <a:xfrm>
            <a:off x="6858000" y="3575304"/>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Handle unknown-owner resources</a:t>
            </a:r>
            <a:endParaRPr lang="en-US" sz="1300" dirty="0"/>
          </a:p>
        </p:txBody>
      </p:sp>
      <p:sp>
        <p:nvSpPr>
          <p:cNvPr id="32" name="Shape 30"/>
          <p:cNvSpPr/>
          <p:nvPr/>
        </p:nvSpPr>
        <p:spPr>
          <a:xfrm>
            <a:off x="6583680" y="4151376"/>
            <a:ext cx="146304" cy="146304"/>
          </a:xfrm>
          <a:prstGeom prst="ellipse">
            <a:avLst/>
          </a:prstGeom>
          <a:solidFill>
            <a:srgbClr val="1C7293"/>
          </a:solidFill>
          <a:ln/>
        </p:spPr>
      </p:sp>
      <p:sp>
        <p:nvSpPr>
          <p:cNvPr id="33" name="Text 31"/>
          <p:cNvSpPr txBox="1"/>
          <p:nvPr/>
        </p:nvSpPr>
        <p:spPr>
          <a:xfrm>
            <a:off x="6858000" y="4059936"/>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Configure rules</a:t>
            </a:r>
            <a:endParaRPr lang="en-US" sz="1300" dirty="0"/>
          </a:p>
        </p:txBody>
      </p:sp>
      <p:sp>
        <p:nvSpPr>
          <p:cNvPr id="34" name="Shape 32"/>
          <p:cNvSpPr/>
          <p:nvPr/>
        </p:nvSpPr>
        <p:spPr>
          <a:xfrm>
            <a:off x="6583680" y="4636008"/>
            <a:ext cx="146304" cy="146304"/>
          </a:xfrm>
          <a:prstGeom prst="ellipse">
            <a:avLst/>
          </a:prstGeom>
          <a:solidFill>
            <a:srgbClr val="1C7293"/>
          </a:solidFill>
          <a:ln/>
        </p:spPr>
      </p:sp>
      <p:sp>
        <p:nvSpPr>
          <p:cNvPr id="35" name="Text 33"/>
          <p:cNvSpPr txBox="1"/>
          <p:nvPr/>
        </p:nvSpPr>
        <p:spPr>
          <a:xfrm>
            <a:off x="6858000" y="4544568"/>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Review approvals</a:t>
            </a:r>
            <a:endParaRPr lang="en-US" sz="1300" dirty="0"/>
          </a:p>
        </p:txBody>
      </p:sp>
      <p:sp>
        <p:nvSpPr>
          <p:cNvPr id="36" name="Shape 34"/>
          <p:cNvSpPr/>
          <p:nvPr/>
        </p:nvSpPr>
        <p:spPr>
          <a:xfrm>
            <a:off x="6583680" y="5120640"/>
            <a:ext cx="146304" cy="146304"/>
          </a:xfrm>
          <a:prstGeom prst="ellipse">
            <a:avLst/>
          </a:prstGeom>
          <a:solidFill>
            <a:srgbClr val="1C7293"/>
          </a:solidFill>
          <a:ln/>
        </p:spPr>
      </p:sp>
      <p:sp>
        <p:nvSpPr>
          <p:cNvPr id="37" name="Text 35"/>
          <p:cNvSpPr txBox="1"/>
          <p:nvPr/>
        </p:nvSpPr>
        <p:spPr>
          <a:xfrm>
            <a:off x="6858000" y="5029200"/>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Perform / approve reclamation</a:t>
            </a:r>
            <a:endParaRPr lang="en-US" sz="1300" dirty="0"/>
          </a:p>
        </p:txBody>
      </p:sp>
      <p:sp>
        <p:nvSpPr>
          <p:cNvPr id="38" name="Shape 36"/>
          <p:cNvSpPr/>
          <p:nvPr/>
        </p:nvSpPr>
        <p:spPr>
          <a:xfrm>
            <a:off x="6583680" y="5605272"/>
            <a:ext cx="146304" cy="146304"/>
          </a:xfrm>
          <a:prstGeom prst="ellipse">
            <a:avLst/>
          </a:prstGeom>
          <a:solidFill>
            <a:srgbClr val="1C7293"/>
          </a:solidFill>
          <a:ln/>
        </p:spPr>
      </p:sp>
      <p:sp>
        <p:nvSpPr>
          <p:cNvPr id="39" name="Text 37"/>
          <p:cNvSpPr txBox="1"/>
          <p:nvPr/>
        </p:nvSpPr>
        <p:spPr>
          <a:xfrm>
            <a:off x="6858000" y="5513832"/>
            <a:ext cx="4434840" cy="329184"/>
          </a:xfrm>
          <a:prstGeom prst="rect">
            <a:avLst/>
          </a:prstGeom>
          <a:noFill/>
          <a:ln/>
        </p:spPr>
        <p:txBody>
          <a:bodyPr wrap="square" lIns="0" tIns="0" rIns="0" bIns="0" rtlCol="0" anchor="ctr"/>
          <a:lstStyle/>
          <a:p>
            <a:pPr marL="0" indent="0">
              <a:buNone/>
            </a:pPr>
            <a:r>
              <a:rPr lang="en-US" sz="1300" dirty="0">
                <a:solidFill>
                  <a:srgbClr val="21295C"/>
                </a:solidFill>
                <a:latin typeface="Calibri" pitchFamily="34" charset="0"/>
                <a:ea typeface="Calibri" pitchFamily="34" charset="-122"/>
                <a:cs typeface="Calibri" pitchFamily="34" charset="-120"/>
              </a:rPr>
              <a:t>View audit information &amp; cost savings</a:t>
            </a:r>
            <a:endParaRPr lang="en-US" sz="1300" dirty="0"/>
          </a:p>
        </p:txBody>
      </p:sp>
      <p:sp>
        <p:nvSpPr>
          <p:cNvPr id="40" name="Text 38"/>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SYSTEM ARCHITECTURE</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Thirteen Modules Make Up the Prototype</a:t>
            </a:r>
            <a:endParaRPr lang="en-US" sz="3000" dirty="0"/>
          </a:p>
        </p:txBody>
      </p:sp>
      <p:sp>
        <p:nvSpPr>
          <p:cNvPr id="4" name="Shape 2"/>
          <p:cNvSpPr/>
          <p:nvPr/>
        </p:nvSpPr>
        <p:spPr>
          <a:xfrm>
            <a:off x="548640" y="1600200"/>
            <a:ext cx="2651760" cy="1051560"/>
          </a:xfrm>
          <a:prstGeom prst="roundRect">
            <a:avLst>
              <a:gd name="adj" fmla="val 7826"/>
            </a:avLst>
          </a:prstGeom>
          <a:solidFill>
            <a:srgbClr val="065A82"/>
          </a:solidFill>
          <a:ln/>
        </p:spPr>
      </p:sp>
      <p:sp>
        <p:nvSpPr>
          <p:cNvPr id="5" name="Shape 3"/>
          <p:cNvSpPr/>
          <p:nvPr/>
        </p:nvSpPr>
        <p:spPr>
          <a:xfrm>
            <a:off x="713232" y="1764792"/>
            <a:ext cx="365760" cy="365760"/>
          </a:xfrm>
          <a:prstGeom prst="ellipse">
            <a:avLst/>
          </a:prstGeom>
          <a:solidFill>
            <a:srgbClr val="FFFFFF"/>
          </a:solidFill>
          <a:ln/>
        </p:spPr>
      </p:sp>
      <p:sp>
        <p:nvSpPr>
          <p:cNvPr id="6" name="Text 4"/>
          <p:cNvSpPr txBox="1"/>
          <p:nvPr/>
        </p:nvSpPr>
        <p:spPr>
          <a:xfrm>
            <a:off x="713232" y="1764792"/>
            <a:ext cx="365760" cy="365760"/>
          </a:xfrm>
          <a:prstGeom prst="rect">
            <a:avLst/>
          </a:prstGeom>
          <a:noFill/>
          <a:ln/>
        </p:spPr>
        <p:txBody>
          <a:bodyPr wrap="square" lIns="0" tIns="0" rIns="0" bIns="0"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13232" y="2167128"/>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Resource Inventory</a:t>
            </a:r>
            <a:endParaRPr lang="en-US" sz="1200" dirty="0"/>
          </a:p>
        </p:txBody>
      </p:sp>
      <p:sp>
        <p:nvSpPr>
          <p:cNvPr id="8" name="Shape 6"/>
          <p:cNvSpPr/>
          <p:nvPr/>
        </p:nvSpPr>
        <p:spPr>
          <a:xfrm>
            <a:off x="3346704" y="1600200"/>
            <a:ext cx="2651760" cy="1051560"/>
          </a:xfrm>
          <a:prstGeom prst="roundRect">
            <a:avLst>
              <a:gd name="adj" fmla="val 7826"/>
            </a:avLst>
          </a:prstGeom>
          <a:solidFill>
            <a:srgbClr val="1C7293"/>
          </a:solidFill>
          <a:ln/>
        </p:spPr>
      </p:sp>
      <p:sp>
        <p:nvSpPr>
          <p:cNvPr id="9" name="Shape 7"/>
          <p:cNvSpPr/>
          <p:nvPr/>
        </p:nvSpPr>
        <p:spPr>
          <a:xfrm>
            <a:off x="3511296" y="1764792"/>
            <a:ext cx="365760" cy="365760"/>
          </a:xfrm>
          <a:prstGeom prst="ellipse">
            <a:avLst/>
          </a:prstGeom>
          <a:solidFill>
            <a:srgbClr val="FFFFFF"/>
          </a:solidFill>
          <a:ln/>
        </p:spPr>
      </p:sp>
      <p:sp>
        <p:nvSpPr>
          <p:cNvPr id="10" name="Text 8"/>
          <p:cNvSpPr txBox="1"/>
          <p:nvPr/>
        </p:nvSpPr>
        <p:spPr>
          <a:xfrm>
            <a:off x="3511296" y="1764792"/>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3511296" y="2167128"/>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Utilisation Monitoring</a:t>
            </a:r>
            <a:endParaRPr lang="en-US" sz="1200" dirty="0"/>
          </a:p>
        </p:txBody>
      </p:sp>
      <p:sp>
        <p:nvSpPr>
          <p:cNvPr id="12" name="Shape 10"/>
          <p:cNvSpPr/>
          <p:nvPr/>
        </p:nvSpPr>
        <p:spPr>
          <a:xfrm>
            <a:off x="6144768" y="1600200"/>
            <a:ext cx="2651760" cy="1051560"/>
          </a:xfrm>
          <a:prstGeom prst="roundRect">
            <a:avLst>
              <a:gd name="adj" fmla="val 7826"/>
            </a:avLst>
          </a:prstGeom>
          <a:solidFill>
            <a:srgbClr val="21295C"/>
          </a:solidFill>
          <a:ln/>
        </p:spPr>
      </p:sp>
      <p:sp>
        <p:nvSpPr>
          <p:cNvPr id="13" name="Shape 11"/>
          <p:cNvSpPr/>
          <p:nvPr/>
        </p:nvSpPr>
        <p:spPr>
          <a:xfrm>
            <a:off x="6309360" y="1764792"/>
            <a:ext cx="365760" cy="365760"/>
          </a:xfrm>
          <a:prstGeom prst="ellipse">
            <a:avLst/>
          </a:prstGeom>
          <a:solidFill>
            <a:srgbClr val="FFFFFF"/>
          </a:solidFill>
          <a:ln/>
        </p:spPr>
      </p:sp>
      <p:sp>
        <p:nvSpPr>
          <p:cNvPr id="14" name="Text 12"/>
          <p:cNvSpPr txBox="1"/>
          <p:nvPr/>
        </p:nvSpPr>
        <p:spPr>
          <a:xfrm>
            <a:off x="6309360" y="1764792"/>
            <a:ext cx="365760" cy="365760"/>
          </a:xfrm>
          <a:prstGeom prst="rect">
            <a:avLst/>
          </a:prstGeom>
          <a:noFill/>
          <a:ln/>
        </p:spPr>
        <p:txBody>
          <a:bodyPr wrap="square" lIns="0" tIns="0" rIns="0" bIns="0"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6309360" y="2167128"/>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Ownership Resolution</a:t>
            </a:r>
            <a:endParaRPr lang="en-US" sz="1200" dirty="0"/>
          </a:p>
        </p:txBody>
      </p:sp>
      <p:sp>
        <p:nvSpPr>
          <p:cNvPr id="16" name="Shape 14"/>
          <p:cNvSpPr/>
          <p:nvPr/>
        </p:nvSpPr>
        <p:spPr>
          <a:xfrm>
            <a:off x="8942832" y="1600200"/>
            <a:ext cx="2651760" cy="1051560"/>
          </a:xfrm>
          <a:prstGeom prst="roundRect">
            <a:avLst>
              <a:gd name="adj" fmla="val 7826"/>
            </a:avLst>
          </a:prstGeom>
          <a:solidFill>
            <a:srgbClr val="065A82"/>
          </a:solidFill>
          <a:ln/>
        </p:spPr>
      </p:sp>
      <p:sp>
        <p:nvSpPr>
          <p:cNvPr id="17" name="Shape 15"/>
          <p:cNvSpPr/>
          <p:nvPr/>
        </p:nvSpPr>
        <p:spPr>
          <a:xfrm>
            <a:off x="9107424" y="1764792"/>
            <a:ext cx="365760" cy="365760"/>
          </a:xfrm>
          <a:prstGeom prst="ellipse">
            <a:avLst/>
          </a:prstGeom>
          <a:solidFill>
            <a:srgbClr val="FFFFFF"/>
          </a:solidFill>
          <a:ln/>
        </p:spPr>
      </p:sp>
      <p:sp>
        <p:nvSpPr>
          <p:cNvPr id="18" name="Text 16"/>
          <p:cNvSpPr txBox="1"/>
          <p:nvPr/>
        </p:nvSpPr>
        <p:spPr>
          <a:xfrm>
            <a:off x="9107424" y="1764792"/>
            <a:ext cx="365760" cy="365760"/>
          </a:xfrm>
          <a:prstGeom prst="rect">
            <a:avLst/>
          </a:prstGeom>
          <a:noFill/>
          <a:ln/>
        </p:spPr>
        <p:txBody>
          <a:bodyPr wrap="square" lIns="0" tIns="0" rIns="0" bIns="0"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9107424" y="2167128"/>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Tag Validation</a:t>
            </a:r>
            <a:endParaRPr lang="en-US" sz="1200" dirty="0"/>
          </a:p>
        </p:txBody>
      </p:sp>
      <p:sp>
        <p:nvSpPr>
          <p:cNvPr id="20" name="Shape 18"/>
          <p:cNvSpPr/>
          <p:nvPr/>
        </p:nvSpPr>
        <p:spPr>
          <a:xfrm>
            <a:off x="548640" y="2798064"/>
            <a:ext cx="2651760" cy="1051560"/>
          </a:xfrm>
          <a:prstGeom prst="roundRect">
            <a:avLst>
              <a:gd name="adj" fmla="val 7826"/>
            </a:avLst>
          </a:prstGeom>
          <a:solidFill>
            <a:srgbClr val="1C7293"/>
          </a:solidFill>
          <a:ln/>
        </p:spPr>
      </p:sp>
      <p:sp>
        <p:nvSpPr>
          <p:cNvPr id="21" name="Shape 19"/>
          <p:cNvSpPr/>
          <p:nvPr/>
        </p:nvSpPr>
        <p:spPr>
          <a:xfrm>
            <a:off x="713232" y="2962656"/>
            <a:ext cx="365760" cy="365760"/>
          </a:xfrm>
          <a:prstGeom prst="ellipse">
            <a:avLst/>
          </a:prstGeom>
          <a:solidFill>
            <a:srgbClr val="FFFFFF"/>
          </a:solidFill>
          <a:ln/>
        </p:spPr>
      </p:sp>
      <p:sp>
        <p:nvSpPr>
          <p:cNvPr id="22" name="Text 20"/>
          <p:cNvSpPr txBox="1"/>
          <p:nvPr/>
        </p:nvSpPr>
        <p:spPr>
          <a:xfrm>
            <a:off x="713232" y="2962656"/>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713232" y="3364992"/>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Academic / Environment Calendar</a:t>
            </a:r>
            <a:endParaRPr lang="en-US" sz="1200" dirty="0"/>
          </a:p>
        </p:txBody>
      </p:sp>
      <p:sp>
        <p:nvSpPr>
          <p:cNvPr id="24" name="Shape 22"/>
          <p:cNvSpPr/>
          <p:nvPr/>
        </p:nvSpPr>
        <p:spPr>
          <a:xfrm>
            <a:off x="3346704" y="2798064"/>
            <a:ext cx="2651760" cy="1051560"/>
          </a:xfrm>
          <a:prstGeom prst="roundRect">
            <a:avLst>
              <a:gd name="adj" fmla="val 7826"/>
            </a:avLst>
          </a:prstGeom>
          <a:solidFill>
            <a:srgbClr val="21295C"/>
          </a:solidFill>
          <a:ln/>
        </p:spPr>
      </p:sp>
      <p:sp>
        <p:nvSpPr>
          <p:cNvPr id="25" name="Shape 23"/>
          <p:cNvSpPr/>
          <p:nvPr/>
        </p:nvSpPr>
        <p:spPr>
          <a:xfrm>
            <a:off x="3511296" y="2962656"/>
            <a:ext cx="365760" cy="365760"/>
          </a:xfrm>
          <a:prstGeom prst="ellipse">
            <a:avLst/>
          </a:prstGeom>
          <a:solidFill>
            <a:srgbClr val="FFFFFF"/>
          </a:solidFill>
          <a:ln/>
        </p:spPr>
      </p:sp>
      <p:sp>
        <p:nvSpPr>
          <p:cNvPr id="26" name="Text 24"/>
          <p:cNvSpPr txBox="1"/>
          <p:nvPr/>
        </p:nvSpPr>
        <p:spPr>
          <a:xfrm>
            <a:off x="3511296" y="2962656"/>
            <a:ext cx="365760" cy="365760"/>
          </a:xfrm>
          <a:prstGeom prst="rect">
            <a:avLst/>
          </a:prstGeom>
          <a:noFill/>
          <a:ln/>
        </p:spPr>
        <p:txBody>
          <a:bodyPr wrap="square" lIns="0" tIns="0" rIns="0" bIns="0"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3511296" y="3364992"/>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Idle Detection</a:t>
            </a:r>
            <a:endParaRPr lang="en-US" sz="1200" dirty="0"/>
          </a:p>
        </p:txBody>
      </p:sp>
      <p:sp>
        <p:nvSpPr>
          <p:cNvPr id="28" name="Shape 26"/>
          <p:cNvSpPr/>
          <p:nvPr/>
        </p:nvSpPr>
        <p:spPr>
          <a:xfrm>
            <a:off x="6144768" y="2798064"/>
            <a:ext cx="2651760" cy="1051560"/>
          </a:xfrm>
          <a:prstGeom prst="roundRect">
            <a:avLst>
              <a:gd name="adj" fmla="val 7826"/>
            </a:avLst>
          </a:prstGeom>
          <a:solidFill>
            <a:srgbClr val="065A82"/>
          </a:solidFill>
          <a:ln/>
        </p:spPr>
      </p:sp>
      <p:sp>
        <p:nvSpPr>
          <p:cNvPr id="29" name="Shape 27"/>
          <p:cNvSpPr/>
          <p:nvPr/>
        </p:nvSpPr>
        <p:spPr>
          <a:xfrm>
            <a:off x="6309360" y="2962656"/>
            <a:ext cx="365760" cy="365760"/>
          </a:xfrm>
          <a:prstGeom prst="ellipse">
            <a:avLst/>
          </a:prstGeom>
          <a:solidFill>
            <a:srgbClr val="FFFFFF"/>
          </a:solidFill>
          <a:ln/>
        </p:spPr>
      </p:sp>
      <p:sp>
        <p:nvSpPr>
          <p:cNvPr id="30" name="Text 28"/>
          <p:cNvSpPr txBox="1"/>
          <p:nvPr/>
        </p:nvSpPr>
        <p:spPr>
          <a:xfrm>
            <a:off x="6309360" y="2962656"/>
            <a:ext cx="365760" cy="365760"/>
          </a:xfrm>
          <a:prstGeom prst="rect">
            <a:avLst/>
          </a:prstGeom>
          <a:noFill/>
          <a:ln/>
        </p:spPr>
        <p:txBody>
          <a:bodyPr wrap="square" lIns="0" tIns="0" rIns="0" bIns="0"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7</a:t>
            </a:r>
            <a:endParaRPr lang="en-US" sz="1400" dirty="0"/>
          </a:p>
        </p:txBody>
      </p:sp>
      <p:sp>
        <p:nvSpPr>
          <p:cNvPr id="31" name="Text 29"/>
          <p:cNvSpPr txBox="1"/>
          <p:nvPr/>
        </p:nvSpPr>
        <p:spPr>
          <a:xfrm>
            <a:off x="6309360" y="3364992"/>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Rule / Decision Engine</a:t>
            </a:r>
            <a:endParaRPr lang="en-US" sz="1200" dirty="0"/>
          </a:p>
        </p:txBody>
      </p:sp>
      <p:sp>
        <p:nvSpPr>
          <p:cNvPr id="32" name="Shape 30"/>
          <p:cNvSpPr/>
          <p:nvPr/>
        </p:nvSpPr>
        <p:spPr>
          <a:xfrm>
            <a:off x="8942832" y="2798064"/>
            <a:ext cx="2651760" cy="1051560"/>
          </a:xfrm>
          <a:prstGeom prst="roundRect">
            <a:avLst>
              <a:gd name="adj" fmla="val 7826"/>
            </a:avLst>
          </a:prstGeom>
          <a:solidFill>
            <a:srgbClr val="1C7293"/>
          </a:solidFill>
          <a:ln/>
        </p:spPr>
      </p:sp>
      <p:sp>
        <p:nvSpPr>
          <p:cNvPr id="33" name="Shape 31"/>
          <p:cNvSpPr/>
          <p:nvPr/>
        </p:nvSpPr>
        <p:spPr>
          <a:xfrm>
            <a:off x="9107424" y="2962656"/>
            <a:ext cx="365760" cy="365760"/>
          </a:xfrm>
          <a:prstGeom prst="ellipse">
            <a:avLst/>
          </a:prstGeom>
          <a:solidFill>
            <a:srgbClr val="FFFFFF"/>
          </a:solidFill>
          <a:ln/>
        </p:spPr>
      </p:sp>
      <p:sp>
        <p:nvSpPr>
          <p:cNvPr id="34" name="Text 32"/>
          <p:cNvSpPr txBox="1"/>
          <p:nvPr/>
        </p:nvSpPr>
        <p:spPr>
          <a:xfrm>
            <a:off x="9107424" y="2962656"/>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8</a:t>
            </a:r>
            <a:endParaRPr lang="en-US" sz="1400" dirty="0"/>
          </a:p>
        </p:txBody>
      </p:sp>
      <p:sp>
        <p:nvSpPr>
          <p:cNvPr id="35" name="Text 33"/>
          <p:cNvSpPr txBox="1"/>
          <p:nvPr/>
        </p:nvSpPr>
        <p:spPr>
          <a:xfrm>
            <a:off x="9107424" y="3364992"/>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Approval Workflow</a:t>
            </a:r>
            <a:endParaRPr lang="en-US" sz="1200" dirty="0"/>
          </a:p>
        </p:txBody>
      </p:sp>
      <p:sp>
        <p:nvSpPr>
          <p:cNvPr id="36" name="Shape 34"/>
          <p:cNvSpPr/>
          <p:nvPr/>
        </p:nvSpPr>
        <p:spPr>
          <a:xfrm>
            <a:off x="548640" y="3995928"/>
            <a:ext cx="2651760" cy="1051560"/>
          </a:xfrm>
          <a:prstGeom prst="roundRect">
            <a:avLst>
              <a:gd name="adj" fmla="val 7826"/>
            </a:avLst>
          </a:prstGeom>
          <a:solidFill>
            <a:srgbClr val="21295C"/>
          </a:solidFill>
          <a:ln/>
        </p:spPr>
      </p:sp>
      <p:sp>
        <p:nvSpPr>
          <p:cNvPr id="37" name="Shape 35"/>
          <p:cNvSpPr/>
          <p:nvPr/>
        </p:nvSpPr>
        <p:spPr>
          <a:xfrm>
            <a:off x="713232" y="4160520"/>
            <a:ext cx="365760" cy="365760"/>
          </a:xfrm>
          <a:prstGeom prst="ellipse">
            <a:avLst/>
          </a:prstGeom>
          <a:solidFill>
            <a:srgbClr val="FFFFFF"/>
          </a:solidFill>
          <a:ln/>
        </p:spPr>
      </p:sp>
      <p:sp>
        <p:nvSpPr>
          <p:cNvPr id="38" name="Text 36"/>
          <p:cNvSpPr txBox="1"/>
          <p:nvPr/>
        </p:nvSpPr>
        <p:spPr>
          <a:xfrm>
            <a:off x="713232" y="4160520"/>
            <a:ext cx="365760" cy="365760"/>
          </a:xfrm>
          <a:prstGeom prst="rect">
            <a:avLst/>
          </a:prstGeom>
          <a:noFill/>
          <a:ln/>
        </p:spPr>
        <p:txBody>
          <a:bodyPr wrap="square" lIns="0" tIns="0" rIns="0" bIns="0"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9</a:t>
            </a:r>
            <a:endParaRPr lang="en-US" sz="1400" dirty="0"/>
          </a:p>
        </p:txBody>
      </p:sp>
      <p:sp>
        <p:nvSpPr>
          <p:cNvPr id="39" name="Text 37"/>
          <p:cNvSpPr txBox="1"/>
          <p:nvPr/>
        </p:nvSpPr>
        <p:spPr>
          <a:xfrm>
            <a:off x="713232" y="4562856"/>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Expiry Management</a:t>
            </a:r>
            <a:endParaRPr lang="en-US" sz="1200" dirty="0"/>
          </a:p>
        </p:txBody>
      </p:sp>
      <p:sp>
        <p:nvSpPr>
          <p:cNvPr id="40" name="Shape 38"/>
          <p:cNvSpPr/>
          <p:nvPr/>
        </p:nvSpPr>
        <p:spPr>
          <a:xfrm>
            <a:off x="3346704" y="3995928"/>
            <a:ext cx="2651760" cy="1051560"/>
          </a:xfrm>
          <a:prstGeom prst="roundRect">
            <a:avLst>
              <a:gd name="adj" fmla="val 7826"/>
            </a:avLst>
          </a:prstGeom>
          <a:solidFill>
            <a:srgbClr val="065A82"/>
          </a:solidFill>
          <a:ln/>
        </p:spPr>
      </p:sp>
      <p:sp>
        <p:nvSpPr>
          <p:cNvPr id="41" name="Shape 39"/>
          <p:cNvSpPr/>
          <p:nvPr/>
        </p:nvSpPr>
        <p:spPr>
          <a:xfrm>
            <a:off x="3511296" y="4160520"/>
            <a:ext cx="365760" cy="365760"/>
          </a:xfrm>
          <a:prstGeom prst="ellipse">
            <a:avLst/>
          </a:prstGeom>
          <a:solidFill>
            <a:srgbClr val="FFFFFF"/>
          </a:solidFill>
          <a:ln/>
        </p:spPr>
      </p:sp>
      <p:sp>
        <p:nvSpPr>
          <p:cNvPr id="42" name="Text 40"/>
          <p:cNvSpPr txBox="1"/>
          <p:nvPr/>
        </p:nvSpPr>
        <p:spPr>
          <a:xfrm>
            <a:off x="3511296" y="4160520"/>
            <a:ext cx="365760" cy="365760"/>
          </a:xfrm>
          <a:prstGeom prst="rect">
            <a:avLst/>
          </a:prstGeom>
          <a:noFill/>
          <a:ln/>
        </p:spPr>
        <p:txBody>
          <a:bodyPr wrap="square" lIns="0" tIns="0" rIns="0" bIns="0"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10</a:t>
            </a:r>
            <a:endParaRPr lang="en-US" sz="1400" dirty="0"/>
          </a:p>
        </p:txBody>
      </p:sp>
      <p:sp>
        <p:nvSpPr>
          <p:cNvPr id="43" name="Text 41"/>
          <p:cNvSpPr txBox="1"/>
          <p:nvPr/>
        </p:nvSpPr>
        <p:spPr>
          <a:xfrm>
            <a:off x="3511296" y="4562856"/>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Safe Reclamation</a:t>
            </a:r>
            <a:endParaRPr lang="en-US" sz="1200" dirty="0"/>
          </a:p>
        </p:txBody>
      </p:sp>
      <p:sp>
        <p:nvSpPr>
          <p:cNvPr id="44" name="Shape 42"/>
          <p:cNvSpPr/>
          <p:nvPr/>
        </p:nvSpPr>
        <p:spPr>
          <a:xfrm>
            <a:off x="6144768" y="3995928"/>
            <a:ext cx="2651760" cy="1051560"/>
          </a:xfrm>
          <a:prstGeom prst="roundRect">
            <a:avLst>
              <a:gd name="adj" fmla="val 7826"/>
            </a:avLst>
          </a:prstGeom>
          <a:solidFill>
            <a:srgbClr val="1C7293"/>
          </a:solidFill>
          <a:ln/>
        </p:spPr>
      </p:sp>
      <p:sp>
        <p:nvSpPr>
          <p:cNvPr id="45" name="Shape 43"/>
          <p:cNvSpPr/>
          <p:nvPr/>
        </p:nvSpPr>
        <p:spPr>
          <a:xfrm>
            <a:off x="6309360" y="4160520"/>
            <a:ext cx="365760" cy="365760"/>
          </a:xfrm>
          <a:prstGeom prst="ellipse">
            <a:avLst/>
          </a:prstGeom>
          <a:solidFill>
            <a:srgbClr val="FFFFFF"/>
          </a:solidFill>
          <a:ln/>
        </p:spPr>
      </p:sp>
      <p:sp>
        <p:nvSpPr>
          <p:cNvPr id="46" name="Text 44"/>
          <p:cNvSpPr txBox="1"/>
          <p:nvPr/>
        </p:nvSpPr>
        <p:spPr>
          <a:xfrm>
            <a:off x="6309360" y="416052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11</a:t>
            </a:r>
            <a:endParaRPr lang="en-US" sz="1400" dirty="0"/>
          </a:p>
        </p:txBody>
      </p:sp>
      <p:sp>
        <p:nvSpPr>
          <p:cNvPr id="47" name="Text 45"/>
          <p:cNvSpPr txBox="1"/>
          <p:nvPr/>
        </p:nvSpPr>
        <p:spPr>
          <a:xfrm>
            <a:off x="6309360" y="4562856"/>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Audit Logging</a:t>
            </a:r>
            <a:endParaRPr lang="en-US" sz="1200" dirty="0"/>
          </a:p>
        </p:txBody>
      </p:sp>
      <p:sp>
        <p:nvSpPr>
          <p:cNvPr id="48" name="Shape 46"/>
          <p:cNvSpPr/>
          <p:nvPr/>
        </p:nvSpPr>
        <p:spPr>
          <a:xfrm>
            <a:off x="8942832" y="3995928"/>
            <a:ext cx="2651760" cy="1051560"/>
          </a:xfrm>
          <a:prstGeom prst="roundRect">
            <a:avLst>
              <a:gd name="adj" fmla="val 7826"/>
            </a:avLst>
          </a:prstGeom>
          <a:solidFill>
            <a:srgbClr val="21295C"/>
          </a:solidFill>
          <a:ln/>
        </p:spPr>
      </p:sp>
      <p:sp>
        <p:nvSpPr>
          <p:cNvPr id="49" name="Shape 47"/>
          <p:cNvSpPr/>
          <p:nvPr/>
        </p:nvSpPr>
        <p:spPr>
          <a:xfrm>
            <a:off x="9107424" y="4160520"/>
            <a:ext cx="365760" cy="365760"/>
          </a:xfrm>
          <a:prstGeom prst="ellipse">
            <a:avLst/>
          </a:prstGeom>
          <a:solidFill>
            <a:srgbClr val="FFFFFF"/>
          </a:solidFill>
          <a:ln/>
        </p:spPr>
      </p:sp>
      <p:sp>
        <p:nvSpPr>
          <p:cNvPr id="50" name="Text 48"/>
          <p:cNvSpPr txBox="1"/>
          <p:nvPr/>
        </p:nvSpPr>
        <p:spPr>
          <a:xfrm>
            <a:off x="9107424" y="4160520"/>
            <a:ext cx="365760" cy="365760"/>
          </a:xfrm>
          <a:prstGeom prst="rect">
            <a:avLst/>
          </a:prstGeom>
          <a:noFill/>
          <a:ln/>
        </p:spPr>
        <p:txBody>
          <a:bodyPr wrap="square" lIns="0" tIns="0" rIns="0" bIns="0"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12</a:t>
            </a:r>
            <a:endParaRPr lang="en-US" sz="1400" dirty="0"/>
          </a:p>
        </p:txBody>
      </p:sp>
      <p:sp>
        <p:nvSpPr>
          <p:cNvPr id="51" name="Text 49"/>
          <p:cNvSpPr txBox="1"/>
          <p:nvPr/>
        </p:nvSpPr>
        <p:spPr>
          <a:xfrm>
            <a:off x="9107424" y="4562856"/>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Cost Calculation / Evaluation</a:t>
            </a:r>
            <a:endParaRPr lang="en-US" sz="1200" dirty="0"/>
          </a:p>
        </p:txBody>
      </p:sp>
      <p:sp>
        <p:nvSpPr>
          <p:cNvPr id="52" name="Shape 50"/>
          <p:cNvSpPr/>
          <p:nvPr/>
        </p:nvSpPr>
        <p:spPr>
          <a:xfrm>
            <a:off x="548640" y="5193792"/>
            <a:ext cx="2651760" cy="1051560"/>
          </a:xfrm>
          <a:prstGeom prst="roundRect">
            <a:avLst>
              <a:gd name="adj" fmla="val 7826"/>
            </a:avLst>
          </a:prstGeom>
          <a:solidFill>
            <a:srgbClr val="065A82"/>
          </a:solidFill>
          <a:ln/>
        </p:spPr>
      </p:sp>
      <p:sp>
        <p:nvSpPr>
          <p:cNvPr id="53" name="Shape 51"/>
          <p:cNvSpPr/>
          <p:nvPr/>
        </p:nvSpPr>
        <p:spPr>
          <a:xfrm>
            <a:off x="713232" y="5358384"/>
            <a:ext cx="365760" cy="365760"/>
          </a:xfrm>
          <a:prstGeom prst="ellipse">
            <a:avLst/>
          </a:prstGeom>
          <a:solidFill>
            <a:srgbClr val="FFFFFF"/>
          </a:solidFill>
          <a:ln/>
        </p:spPr>
      </p:sp>
      <p:sp>
        <p:nvSpPr>
          <p:cNvPr id="54" name="Text 52"/>
          <p:cNvSpPr txBox="1"/>
          <p:nvPr/>
        </p:nvSpPr>
        <p:spPr>
          <a:xfrm>
            <a:off x="713232" y="5358384"/>
            <a:ext cx="365760" cy="365760"/>
          </a:xfrm>
          <a:prstGeom prst="rect">
            <a:avLst/>
          </a:prstGeom>
          <a:noFill/>
          <a:ln/>
        </p:spPr>
        <p:txBody>
          <a:bodyPr wrap="square" lIns="0" tIns="0" rIns="0" bIns="0"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13</a:t>
            </a:r>
            <a:endParaRPr lang="en-US" sz="1400" dirty="0"/>
          </a:p>
        </p:txBody>
      </p:sp>
      <p:sp>
        <p:nvSpPr>
          <p:cNvPr id="55" name="Text 53"/>
          <p:cNvSpPr txBox="1"/>
          <p:nvPr/>
        </p:nvSpPr>
        <p:spPr>
          <a:xfrm>
            <a:off x="713232" y="5760720"/>
            <a:ext cx="2322576" cy="438912"/>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libri" pitchFamily="34" charset="0"/>
                <a:ea typeface="Calibri" pitchFamily="34" charset="-122"/>
                <a:cs typeface="Calibri" pitchFamily="34" charset="-120"/>
              </a:rPr>
              <a:t>Admin &amp; Owner Interfaces</a:t>
            </a:r>
            <a:endParaRPr lang="en-US" sz="1200" dirty="0"/>
          </a:p>
        </p:txBody>
      </p:sp>
      <p:sp>
        <p:nvSpPr>
          <p:cNvPr id="56" name="Text 54"/>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05  ·  RULE / DECISION ENGINE</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Configurable Rules — Not Hard-Coded Decisions</a:t>
            </a:r>
            <a:endParaRPr lang="en-US" sz="30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Administrators can change policy without touching the application logic.</a:t>
            </a:r>
            <a:endParaRPr lang="en-US" sz="1300" dirty="0"/>
          </a:p>
        </p:txBody>
      </p:sp>
      <p:sp>
        <p:nvSpPr>
          <p:cNvPr id="5" name="Shape 3"/>
          <p:cNvSpPr/>
          <p:nvPr/>
        </p:nvSpPr>
        <p:spPr>
          <a:xfrm>
            <a:off x="548640" y="1965960"/>
            <a:ext cx="5349240" cy="713232"/>
          </a:xfrm>
          <a:prstGeom prst="roundRect">
            <a:avLst>
              <a:gd name="adj" fmla="val 10256"/>
            </a:avLst>
          </a:prstGeom>
          <a:solidFill>
            <a:srgbClr val="EAF4FA"/>
          </a:solidFill>
          <a:ln/>
        </p:spPr>
      </p:sp>
      <p:sp>
        <p:nvSpPr>
          <p:cNvPr id="6" name="Shape 4"/>
          <p:cNvSpPr/>
          <p:nvPr/>
        </p:nvSpPr>
        <p:spPr>
          <a:xfrm>
            <a:off x="749808" y="2176272"/>
            <a:ext cx="292608" cy="292608"/>
          </a:xfrm>
          <a:prstGeom prst="ellipse">
            <a:avLst/>
          </a:prstGeom>
          <a:solidFill>
            <a:srgbClr val="1C7293"/>
          </a:solidFill>
          <a:ln/>
        </p:spPr>
      </p:sp>
      <p:sp>
        <p:nvSpPr>
          <p:cNvPr id="7" name="Text 5"/>
          <p:cNvSpPr txBox="1"/>
          <p:nvPr/>
        </p:nvSpPr>
        <p:spPr>
          <a:xfrm>
            <a:off x="749808" y="2176272"/>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70432" y="1965960"/>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Idle utilisation threshold</a:t>
            </a:r>
            <a:endParaRPr lang="en-US" sz="1350" dirty="0"/>
          </a:p>
        </p:txBody>
      </p:sp>
      <p:sp>
        <p:nvSpPr>
          <p:cNvPr id="9" name="Shape 7"/>
          <p:cNvSpPr/>
          <p:nvPr/>
        </p:nvSpPr>
        <p:spPr>
          <a:xfrm>
            <a:off x="6172200" y="1965960"/>
            <a:ext cx="5349240" cy="713232"/>
          </a:xfrm>
          <a:prstGeom prst="roundRect">
            <a:avLst>
              <a:gd name="adj" fmla="val 10256"/>
            </a:avLst>
          </a:prstGeom>
          <a:solidFill>
            <a:srgbClr val="EAF4FA"/>
          </a:solidFill>
          <a:ln/>
        </p:spPr>
      </p:sp>
      <p:sp>
        <p:nvSpPr>
          <p:cNvPr id="10" name="Shape 8"/>
          <p:cNvSpPr/>
          <p:nvPr/>
        </p:nvSpPr>
        <p:spPr>
          <a:xfrm>
            <a:off x="6373368" y="2176272"/>
            <a:ext cx="292608" cy="292608"/>
          </a:xfrm>
          <a:prstGeom prst="ellipse">
            <a:avLst/>
          </a:prstGeom>
          <a:solidFill>
            <a:srgbClr val="1C7293"/>
          </a:solidFill>
          <a:ln/>
        </p:spPr>
      </p:sp>
      <p:sp>
        <p:nvSpPr>
          <p:cNvPr id="11" name="Text 9"/>
          <p:cNvSpPr txBox="1"/>
          <p:nvPr/>
        </p:nvSpPr>
        <p:spPr>
          <a:xfrm>
            <a:off x="6373368" y="2176272"/>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793992" y="1965960"/>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Minimum idle duration</a:t>
            </a:r>
            <a:endParaRPr lang="en-US" sz="1350" dirty="0"/>
          </a:p>
        </p:txBody>
      </p:sp>
      <p:sp>
        <p:nvSpPr>
          <p:cNvPr id="13" name="Shape 11"/>
          <p:cNvSpPr/>
          <p:nvPr/>
        </p:nvSpPr>
        <p:spPr>
          <a:xfrm>
            <a:off x="548640" y="2825496"/>
            <a:ext cx="5349240" cy="713232"/>
          </a:xfrm>
          <a:prstGeom prst="roundRect">
            <a:avLst>
              <a:gd name="adj" fmla="val 10256"/>
            </a:avLst>
          </a:prstGeom>
          <a:solidFill>
            <a:srgbClr val="EAF4FA"/>
          </a:solidFill>
          <a:ln/>
        </p:spPr>
      </p:sp>
      <p:sp>
        <p:nvSpPr>
          <p:cNvPr id="14" name="Shape 12"/>
          <p:cNvSpPr/>
          <p:nvPr/>
        </p:nvSpPr>
        <p:spPr>
          <a:xfrm>
            <a:off x="749808" y="3035808"/>
            <a:ext cx="292608" cy="292608"/>
          </a:xfrm>
          <a:prstGeom prst="ellipse">
            <a:avLst/>
          </a:prstGeom>
          <a:solidFill>
            <a:srgbClr val="1C7293"/>
          </a:solidFill>
          <a:ln/>
        </p:spPr>
      </p:sp>
      <p:sp>
        <p:nvSpPr>
          <p:cNvPr id="15" name="Text 13"/>
          <p:cNvSpPr txBox="1"/>
          <p:nvPr/>
        </p:nvSpPr>
        <p:spPr>
          <a:xfrm>
            <a:off x="749808" y="3035808"/>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70432" y="2825496"/>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Course-end grace period</a:t>
            </a:r>
            <a:endParaRPr lang="en-US" sz="1350" dirty="0"/>
          </a:p>
        </p:txBody>
      </p:sp>
      <p:sp>
        <p:nvSpPr>
          <p:cNvPr id="17" name="Shape 15"/>
          <p:cNvSpPr/>
          <p:nvPr/>
        </p:nvSpPr>
        <p:spPr>
          <a:xfrm>
            <a:off x="6172200" y="2825496"/>
            <a:ext cx="5349240" cy="713232"/>
          </a:xfrm>
          <a:prstGeom prst="roundRect">
            <a:avLst>
              <a:gd name="adj" fmla="val 10256"/>
            </a:avLst>
          </a:prstGeom>
          <a:solidFill>
            <a:srgbClr val="EAF4FA"/>
          </a:solidFill>
          <a:ln/>
        </p:spPr>
      </p:sp>
      <p:sp>
        <p:nvSpPr>
          <p:cNvPr id="18" name="Shape 16"/>
          <p:cNvSpPr/>
          <p:nvPr/>
        </p:nvSpPr>
        <p:spPr>
          <a:xfrm>
            <a:off x="6373368" y="3035808"/>
            <a:ext cx="292608" cy="292608"/>
          </a:xfrm>
          <a:prstGeom prst="ellipse">
            <a:avLst/>
          </a:prstGeom>
          <a:solidFill>
            <a:srgbClr val="1C7293"/>
          </a:solidFill>
          <a:ln/>
        </p:spPr>
      </p:sp>
      <p:sp>
        <p:nvSpPr>
          <p:cNvPr id="19" name="Text 17"/>
          <p:cNvSpPr txBox="1"/>
          <p:nvPr/>
        </p:nvSpPr>
        <p:spPr>
          <a:xfrm>
            <a:off x="6373368" y="3035808"/>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6793992" y="2825496"/>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Owner response period</a:t>
            </a:r>
            <a:endParaRPr lang="en-US" sz="1350" dirty="0"/>
          </a:p>
        </p:txBody>
      </p:sp>
      <p:sp>
        <p:nvSpPr>
          <p:cNvPr id="21" name="Shape 19"/>
          <p:cNvSpPr/>
          <p:nvPr/>
        </p:nvSpPr>
        <p:spPr>
          <a:xfrm>
            <a:off x="548640" y="3685032"/>
            <a:ext cx="5349240" cy="713232"/>
          </a:xfrm>
          <a:prstGeom prst="roundRect">
            <a:avLst>
              <a:gd name="adj" fmla="val 10256"/>
            </a:avLst>
          </a:prstGeom>
          <a:solidFill>
            <a:srgbClr val="EAF4FA"/>
          </a:solidFill>
          <a:ln/>
        </p:spPr>
      </p:sp>
      <p:sp>
        <p:nvSpPr>
          <p:cNvPr id="22" name="Shape 20"/>
          <p:cNvSpPr/>
          <p:nvPr/>
        </p:nvSpPr>
        <p:spPr>
          <a:xfrm>
            <a:off x="749808" y="3895344"/>
            <a:ext cx="292608" cy="292608"/>
          </a:xfrm>
          <a:prstGeom prst="ellipse">
            <a:avLst/>
          </a:prstGeom>
          <a:solidFill>
            <a:srgbClr val="1C7293"/>
          </a:solidFill>
          <a:ln/>
        </p:spPr>
      </p:sp>
      <p:sp>
        <p:nvSpPr>
          <p:cNvPr id="23" name="Text 21"/>
          <p:cNvSpPr txBox="1"/>
          <p:nvPr/>
        </p:nvSpPr>
        <p:spPr>
          <a:xfrm>
            <a:off x="749808" y="3895344"/>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1170432" y="3685032"/>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Reminder period</a:t>
            </a:r>
            <a:endParaRPr lang="en-US" sz="1350" dirty="0"/>
          </a:p>
        </p:txBody>
      </p:sp>
      <p:sp>
        <p:nvSpPr>
          <p:cNvPr id="25" name="Shape 23"/>
          <p:cNvSpPr/>
          <p:nvPr/>
        </p:nvSpPr>
        <p:spPr>
          <a:xfrm>
            <a:off x="6172200" y="3685032"/>
            <a:ext cx="5349240" cy="713232"/>
          </a:xfrm>
          <a:prstGeom prst="roundRect">
            <a:avLst>
              <a:gd name="adj" fmla="val 10256"/>
            </a:avLst>
          </a:prstGeom>
          <a:solidFill>
            <a:srgbClr val="EAF4FA"/>
          </a:solidFill>
          <a:ln/>
        </p:spPr>
      </p:sp>
      <p:sp>
        <p:nvSpPr>
          <p:cNvPr id="26" name="Shape 24"/>
          <p:cNvSpPr/>
          <p:nvPr/>
        </p:nvSpPr>
        <p:spPr>
          <a:xfrm>
            <a:off x="6373368" y="3895344"/>
            <a:ext cx="292608" cy="292608"/>
          </a:xfrm>
          <a:prstGeom prst="ellipse">
            <a:avLst/>
          </a:prstGeom>
          <a:solidFill>
            <a:srgbClr val="1C7293"/>
          </a:solidFill>
          <a:ln/>
        </p:spPr>
      </p:sp>
      <p:sp>
        <p:nvSpPr>
          <p:cNvPr id="27" name="Text 25"/>
          <p:cNvSpPr txBox="1"/>
          <p:nvPr/>
        </p:nvSpPr>
        <p:spPr>
          <a:xfrm>
            <a:off x="6373368" y="3895344"/>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txBox="1"/>
          <p:nvPr/>
        </p:nvSpPr>
        <p:spPr>
          <a:xfrm>
            <a:off x="6793992" y="3685032"/>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Expiry period</a:t>
            </a:r>
            <a:endParaRPr lang="en-US" sz="1350" dirty="0"/>
          </a:p>
        </p:txBody>
      </p:sp>
      <p:sp>
        <p:nvSpPr>
          <p:cNvPr id="29" name="Shape 27"/>
          <p:cNvSpPr/>
          <p:nvPr/>
        </p:nvSpPr>
        <p:spPr>
          <a:xfrm>
            <a:off x="548640" y="4544568"/>
            <a:ext cx="5349240" cy="713232"/>
          </a:xfrm>
          <a:prstGeom prst="roundRect">
            <a:avLst>
              <a:gd name="adj" fmla="val 10256"/>
            </a:avLst>
          </a:prstGeom>
          <a:solidFill>
            <a:srgbClr val="EAF4FA"/>
          </a:solidFill>
          <a:ln/>
        </p:spPr>
      </p:sp>
      <p:sp>
        <p:nvSpPr>
          <p:cNvPr id="30" name="Shape 28"/>
          <p:cNvSpPr/>
          <p:nvPr/>
        </p:nvSpPr>
        <p:spPr>
          <a:xfrm>
            <a:off x="749808" y="4754880"/>
            <a:ext cx="292608" cy="292608"/>
          </a:xfrm>
          <a:prstGeom prst="ellipse">
            <a:avLst/>
          </a:prstGeom>
          <a:solidFill>
            <a:srgbClr val="1C7293"/>
          </a:solidFill>
          <a:ln/>
        </p:spPr>
      </p:sp>
      <p:sp>
        <p:nvSpPr>
          <p:cNvPr id="31" name="Text 29"/>
          <p:cNvSpPr txBox="1"/>
          <p:nvPr/>
        </p:nvSpPr>
        <p:spPr>
          <a:xfrm>
            <a:off x="749808" y="475488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2" name="Text 30"/>
          <p:cNvSpPr txBox="1"/>
          <p:nvPr/>
        </p:nvSpPr>
        <p:spPr>
          <a:xfrm>
            <a:off x="1170432" y="4544568"/>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Unknown-owner handling</a:t>
            </a:r>
            <a:endParaRPr lang="en-US" sz="1350" dirty="0"/>
          </a:p>
        </p:txBody>
      </p:sp>
      <p:sp>
        <p:nvSpPr>
          <p:cNvPr id="33" name="Shape 31"/>
          <p:cNvSpPr/>
          <p:nvPr/>
        </p:nvSpPr>
        <p:spPr>
          <a:xfrm>
            <a:off x="6172200" y="4544568"/>
            <a:ext cx="5349240" cy="713232"/>
          </a:xfrm>
          <a:prstGeom prst="roundRect">
            <a:avLst>
              <a:gd name="adj" fmla="val 10256"/>
            </a:avLst>
          </a:prstGeom>
          <a:solidFill>
            <a:srgbClr val="EAF4FA"/>
          </a:solidFill>
          <a:ln/>
        </p:spPr>
      </p:sp>
      <p:sp>
        <p:nvSpPr>
          <p:cNvPr id="34" name="Shape 32"/>
          <p:cNvSpPr/>
          <p:nvPr/>
        </p:nvSpPr>
        <p:spPr>
          <a:xfrm>
            <a:off x="6373368" y="4754880"/>
            <a:ext cx="292608" cy="292608"/>
          </a:xfrm>
          <a:prstGeom prst="ellipse">
            <a:avLst/>
          </a:prstGeom>
          <a:solidFill>
            <a:srgbClr val="1C7293"/>
          </a:solidFill>
          <a:ln/>
        </p:spPr>
      </p:sp>
      <p:sp>
        <p:nvSpPr>
          <p:cNvPr id="35" name="Text 33"/>
          <p:cNvSpPr txBox="1"/>
          <p:nvPr/>
        </p:nvSpPr>
        <p:spPr>
          <a:xfrm>
            <a:off x="6373368" y="475488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6" name="Text 34"/>
          <p:cNvSpPr txBox="1"/>
          <p:nvPr/>
        </p:nvSpPr>
        <p:spPr>
          <a:xfrm>
            <a:off x="6793992" y="4544568"/>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Safe reclamation action</a:t>
            </a:r>
            <a:endParaRPr lang="en-US" sz="1350" dirty="0"/>
          </a:p>
        </p:txBody>
      </p:sp>
      <p:sp>
        <p:nvSpPr>
          <p:cNvPr id="37" name="Shape 35"/>
          <p:cNvSpPr/>
          <p:nvPr/>
        </p:nvSpPr>
        <p:spPr>
          <a:xfrm>
            <a:off x="548640" y="5404104"/>
            <a:ext cx="5349240" cy="713232"/>
          </a:xfrm>
          <a:prstGeom prst="roundRect">
            <a:avLst>
              <a:gd name="adj" fmla="val 10256"/>
            </a:avLst>
          </a:prstGeom>
          <a:solidFill>
            <a:srgbClr val="EAF4FA"/>
          </a:solidFill>
          <a:ln/>
        </p:spPr>
      </p:sp>
      <p:sp>
        <p:nvSpPr>
          <p:cNvPr id="38" name="Shape 36"/>
          <p:cNvSpPr/>
          <p:nvPr/>
        </p:nvSpPr>
        <p:spPr>
          <a:xfrm>
            <a:off x="749808" y="5614416"/>
            <a:ext cx="292608" cy="292608"/>
          </a:xfrm>
          <a:prstGeom prst="ellipse">
            <a:avLst/>
          </a:prstGeom>
          <a:solidFill>
            <a:srgbClr val="1C7293"/>
          </a:solidFill>
          <a:ln/>
        </p:spPr>
      </p:sp>
      <p:sp>
        <p:nvSpPr>
          <p:cNvPr id="39" name="Text 37"/>
          <p:cNvSpPr txBox="1"/>
          <p:nvPr/>
        </p:nvSpPr>
        <p:spPr>
          <a:xfrm>
            <a:off x="749808" y="5614416"/>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0" name="Text 38"/>
          <p:cNvSpPr txBox="1"/>
          <p:nvPr/>
        </p:nvSpPr>
        <p:spPr>
          <a:xfrm>
            <a:off x="1170432" y="5404104"/>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Deletion approval policy</a:t>
            </a:r>
            <a:endParaRPr lang="en-US" sz="1350" dirty="0"/>
          </a:p>
        </p:txBody>
      </p:sp>
      <p:sp>
        <p:nvSpPr>
          <p:cNvPr id="41" name="Shape 39"/>
          <p:cNvSpPr/>
          <p:nvPr/>
        </p:nvSpPr>
        <p:spPr>
          <a:xfrm>
            <a:off x="6172200" y="5404104"/>
            <a:ext cx="5349240" cy="713232"/>
          </a:xfrm>
          <a:prstGeom prst="roundRect">
            <a:avLst>
              <a:gd name="adj" fmla="val 10256"/>
            </a:avLst>
          </a:prstGeom>
          <a:solidFill>
            <a:srgbClr val="EAF4FA"/>
          </a:solidFill>
          <a:ln/>
        </p:spPr>
      </p:sp>
      <p:sp>
        <p:nvSpPr>
          <p:cNvPr id="42" name="Shape 40"/>
          <p:cNvSpPr/>
          <p:nvPr/>
        </p:nvSpPr>
        <p:spPr>
          <a:xfrm>
            <a:off x="6373368" y="5614416"/>
            <a:ext cx="292608" cy="292608"/>
          </a:xfrm>
          <a:prstGeom prst="ellipse">
            <a:avLst/>
          </a:prstGeom>
          <a:solidFill>
            <a:srgbClr val="1C7293"/>
          </a:solidFill>
          <a:ln/>
        </p:spPr>
      </p:sp>
      <p:sp>
        <p:nvSpPr>
          <p:cNvPr id="43" name="Text 41"/>
          <p:cNvSpPr txBox="1"/>
          <p:nvPr/>
        </p:nvSpPr>
        <p:spPr>
          <a:xfrm>
            <a:off x="6373368" y="5614416"/>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4" name="Text 42"/>
          <p:cNvSpPr txBox="1"/>
          <p:nvPr/>
        </p:nvSpPr>
        <p:spPr>
          <a:xfrm>
            <a:off x="6793992" y="5404104"/>
            <a:ext cx="4526280" cy="713232"/>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Protection on reactivation</a:t>
            </a:r>
            <a:endParaRPr lang="en-US" sz="1350" dirty="0"/>
          </a:p>
        </p:txBody>
      </p:sp>
      <p:sp>
        <p:nvSpPr>
          <p:cNvPr id="45" name="Text 43"/>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8FD3E8"/>
                </a:solidFill>
                <a:latin typeface="Calibri" pitchFamily="34" charset="0"/>
                <a:ea typeface="Calibri" pitchFamily="34" charset="-122"/>
                <a:cs typeface="Calibri" pitchFamily="34" charset="-120"/>
              </a:rPr>
              <a:t>06  ·  SAFETY DESIGN</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Safety-First Reclamation</a:t>
            </a:r>
            <a:endParaRPr lang="en-US" sz="3000" dirty="0"/>
          </a:p>
        </p:txBody>
      </p:sp>
      <p:sp>
        <p:nvSpPr>
          <p:cNvPr id="4" name="Shape 2"/>
          <p:cNvSpPr/>
          <p:nvPr/>
        </p:nvSpPr>
        <p:spPr>
          <a:xfrm>
            <a:off x="548640" y="1600200"/>
            <a:ext cx="310896" cy="310896"/>
          </a:xfrm>
          <a:prstGeom prst="ellipse">
            <a:avLst/>
          </a:prstGeom>
          <a:solidFill>
            <a:srgbClr val="1FA37A"/>
          </a:solidFill>
          <a:ln/>
        </p:spPr>
      </p:sp>
      <p:sp>
        <p:nvSpPr>
          <p:cNvPr id="5" name="Text 3"/>
          <p:cNvSpPr txBox="1"/>
          <p:nvPr/>
        </p:nvSpPr>
        <p:spPr>
          <a:xfrm>
            <a:off x="548640" y="160020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987552" y="1545336"/>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Unknown-owner resources are sent for administrator review, never auto-reclaimed</a:t>
            </a:r>
            <a:endParaRPr lang="en-US" sz="1200" dirty="0"/>
          </a:p>
        </p:txBody>
      </p:sp>
      <p:sp>
        <p:nvSpPr>
          <p:cNvPr id="7" name="Shape 5"/>
          <p:cNvSpPr/>
          <p:nvPr/>
        </p:nvSpPr>
        <p:spPr>
          <a:xfrm>
            <a:off x="548640" y="2167128"/>
            <a:ext cx="310896" cy="310896"/>
          </a:xfrm>
          <a:prstGeom prst="ellipse">
            <a:avLst/>
          </a:prstGeom>
          <a:solidFill>
            <a:srgbClr val="1FA37A"/>
          </a:solidFill>
          <a:ln/>
        </p:spPr>
      </p:sp>
      <p:sp>
        <p:nvSpPr>
          <p:cNvPr id="8" name="Text 6"/>
          <p:cNvSpPr txBox="1"/>
          <p:nvPr/>
        </p:nvSpPr>
        <p:spPr>
          <a:xfrm>
            <a:off x="548640" y="216712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987552" y="2112264"/>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Resources tied to an active course stay protected even at low utilisation</a:t>
            </a:r>
            <a:endParaRPr lang="en-US" sz="1200" dirty="0"/>
          </a:p>
        </p:txBody>
      </p:sp>
      <p:sp>
        <p:nvSpPr>
          <p:cNvPr id="10" name="Shape 8"/>
          <p:cNvSpPr/>
          <p:nvPr/>
        </p:nvSpPr>
        <p:spPr>
          <a:xfrm>
            <a:off x="548640" y="2734056"/>
            <a:ext cx="310896" cy="310896"/>
          </a:xfrm>
          <a:prstGeom prst="ellipse">
            <a:avLst/>
          </a:prstGeom>
          <a:solidFill>
            <a:srgbClr val="1FA37A"/>
          </a:solidFill>
          <a:ln/>
        </p:spPr>
      </p:sp>
      <p:sp>
        <p:nvSpPr>
          <p:cNvPr id="11" name="Text 9"/>
          <p:cNvSpPr txBox="1"/>
          <p:nvPr/>
        </p:nvSpPr>
        <p:spPr>
          <a:xfrm>
            <a:off x="548640" y="2734056"/>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987552" y="2679192"/>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Low CPU usage alone never triggers reclamation</a:t>
            </a:r>
            <a:endParaRPr lang="en-US" sz="1200" dirty="0"/>
          </a:p>
        </p:txBody>
      </p:sp>
      <p:sp>
        <p:nvSpPr>
          <p:cNvPr id="13" name="Shape 11"/>
          <p:cNvSpPr/>
          <p:nvPr/>
        </p:nvSpPr>
        <p:spPr>
          <a:xfrm>
            <a:off x="548640" y="3300984"/>
            <a:ext cx="310896" cy="310896"/>
          </a:xfrm>
          <a:prstGeom prst="ellipse">
            <a:avLst/>
          </a:prstGeom>
          <a:solidFill>
            <a:srgbClr val="1FA37A"/>
          </a:solidFill>
          <a:ln/>
        </p:spPr>
      </p:sp>
      <p:sp>
        <p:nvSpPr>
          <p:cNvPr id="14" name="Text 12"/>
          <p:cNvSpPr txBox="1"/>
          <p:nvPr/>
        </p:nvSpPr>
        <p:spPr>
          <a:xfrm>
            <a:off x="548640" y="330098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987552" y="3246120"/>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Owner approval is requested before any reclamation action</a:t>
            </a:r>
            <a:endParaRPr lang="en-US" sz="1200" dirty="0"/>
          </a:p>
        </p:txBody>
      </p:sp>
      <p:sp>
        <p:nvSpPr>
          <p:cNvPr id="16" name="Shape 14"/>
          <p:cNvSpPr/>
          <p:nvPr/>
        </p:nvSpPr>
        <p:spPr>
          <a:xfrm>
            <a:off x="6172200" y="1600200"/>
            <a:ext cx="310896" cy="310896"/>
          </a:xfrm>
          <a:prstGeom prst="ellipse">
            <a:avLst/>
          </a:prstGeom>
          <a:solidFill>
            <a:srgbClr val="1FA37A"/>
          </a:solidFill>
          <a:ln/>
        </p:spPr>
      </p:sp>
      <p:sp>
        <p:nvSpPr>
          <p:cNvPr id="17" name="Text 15"/>
          <p:cNvSpPr txBox="1"/>
          <p:nvPr/>
        </p:nvSpPr>
        <p:spPr>
          <a:xfrm>
            <a:off x="6172200" y="160020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6611112" y="1545336"/>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No-response cases follow configurable expiry rules, not defaults</a:t>
            </a:r>
            <a:endParaRPr lang="en-US" sz="1200" dirty="0"/>
          </a:p>
        </p:txBody>
      </p:sp>
      <p:sp>
        <p:nvSpPr>
          <p:cNvPr id="19" name="Shape 17"/>
          <p:cNvSpPr/>
          <p:nvPr/>
        </p:nvSpPr>
        <p:spPr>
          <a:xfrm>
            <a:off x="6172200" y="2167128"/>
            <a:ext cx="310896" cy="310896"/>
          </a:xfrm>
          <a:prstGeom prst="ellipse">
            <a:avLst/>
          </a:prstGeom>
          <a:solidFill>
            <a:srgbClr val="1FA37A"/>
          </a:solidFill>
          <a:ln/>
        </p:spPr>
      </p:sp>
      <p:sp>
        <p:nvSpPr>
          <p:cNvPr id="20" name="Text 18"/>
          <p:cNvSpPr txBox="1"/>
          <p:nvPr/>
        </p:nvSpPr>
        <p:spPr>
          <a:xfrm>
            <a:off x="6172200" y="216712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6611112" y="2112264"/>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A resource going active during approval cancels or suspends reclamation</a:t>
            </a:r>
            <a:endParaRPr lang="en-US" sz="1200" dirty="0"/>
          </a:p>
        </p:txBody>
      </p:sp>
      <p:sp>
        <p:nvSpPr>
          <p:cNvPr id="22" name="Shape 20"/>
          <p:cNvSpPr/>
          <p:nvPr/>
        </p:nvSpPr>
        <p:spPr>
          <a:xfrm>
            <a:off x="6172200" y="2734056"/>
            <a:ext cx="310896" cy="310896"/>
          </a:xfrm>
          <a:prstGeom prst="ellipse">
            <a:avLst/>
          </a:prstGeom>
          <a:solidFill>
            <a:srgbClr val="1FA37A"/>
          </a:solidFill>
          <a:ln/>
        </p:spPr>
      </p:sp>
      <p:sp>
        <p:nvSpPr>
          <p:cNvPr id="23" name="Text 21"/>
          <p:cNvSpPr txBox="1"/>
          <p:nvPr/>
        </p:nvSpPr>
        <p:spPr>
          <a:xfrm>
            <a:off x="6172200" y="2734056"/>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6611112" y="2679192"/>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Destructive deletion requires stronger approval than reversible stop / suspend</a:t>
            </a:r>
            <a:endParaRPr lang="en-US" sz="1200" dirty="0"/>
          </a:p>
        </p:txBody>
      </p:sp>
      <p:sp>
        <p:nvSpPr>
          <p:cNvPr id="25" name="Shape 23"/>
          <p:cNvSpPr/>
          <p:nvPr/>
        </p:nvSpPr>
        <p:spPr>
          <a:xfrm>
            <a:off x="6172200" y="3300984"/>
            <a:ext cx="310896" cy="310896"/>
          </a:xfrm>
          <a:prstGeom prst="ellipse">
            <a:avLst/>
          </a:prstGeom>
          <a:solidFill>
            <a:srgbClr val="1FA37A"/>
          </a:solidFill>
          <a:ln/>
        </p:spPr>
      </p:sp>
      <p:sp>
        <p:nvSpPr>
          <p:cNvPr id="26" name="Text 24"/>
          <p:cNvSpPr txBox="1"/>
          <p:nvPr/>
        </p:nvSpPr>
        <p:spPr>
          <a:xfrm>
            <a:off x="6172200" y="330098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6611112" y="3246120"/>
            <a:ext cx="4892040" cy="512064"/>
          </a:xfrm>
          <a:prstGeom prst="rect">
            <a:avLst/>
          </a:prstGeom>
          <a:noFill/>
          <a:ln/>
        </p:spPr>
        <p:txBody>
          <a:bodyPr wrap="square" lIns="0" tIns="0" rIns="0" bIns="0" rtlCol="0" anchor="ctr"/>
          <a:lstStyle/>
          <a:p>
            <a:pPr marL="0" indent="0">
              <a:lnSpc>
                <a:spcPct val="110000"/>
              </a:lnSpc>
              <a:buNone/>
            </a:pPr>
            <a:r>
              <a:rPr lang="en-US" sz="1200" dirty="0">
                <a:solidFill>
                  <a:srgbClr val="E6ECFA"/>
                </a:solidFill>
                <a:latin typeface="Calibri" pitchFamily="34" charset="0"/>
                <a:ea typeface="Calibri" pitchFamily="34" charset="-122"/>
                <a:cs typeface="Calibri" pitchFamily="34" charset="-120"/>
              </a:rPr>
              <a:t>Every important action is recorded in an audit log</a:t>
            </a:r>
            <a:endParaRPr lang="en-US" sz="1200" dirty="0"/>
          </a:p>
        </p:txBody>
      </p:sp>
      <p:sp>
        <p:nvSpPr>
          <p:cNvPr id="28" name="Shape 26"/>
          <p:cNvSpPr/>
          <p:nvPr/>
        </p:nvSpPr>
        <p:spPr>
          <a:xfrm>
            <a:off x="548640" y="4709160"/>
            <a:ext cx="11064240" cy="1417320"/>
          </a:xfrm>
          <a:prstGeom prst="roundRect">
            <a:avLst>
              <a:gd name="adj" fmla="val 7742"/>
            </a:avLst>
          </a:prstGeom>
          <a:solidFill>
            <a:srgbClr val="1C7293"/>
          </a:solidFill>
          <a:ln/>
        </p:spPr>
      </p:sp>
      <p:sp>
        <p:nvSpPr>
          <p:cNvPr id="29" name="Text 27"/>
          <p:cNvSpPr txBox="1"/>
          <p:nvPr/>
        </p:nvSpPr>
        <p:spPr>
          <a:xfrm>
            <a:off x="868680" y="4937760"/>
            <a:ext cx="10424160" cy="292608"/>
          </a:xfrm>
          <a:prstGeom prst="rect">
            <a:avLst/>
          </a:prstGeom>
          <a:noFill/>
          <a:ln/>
        </p:spPr>
        <p:txBody>
          <a:bodyPr wrap="square" lIns="0" tIns="0" rIns="0" bIns="0" rtlCol="0" anchor="ctr"/>
          <a:lstStyle/>
          <a:p>
            <a:pPr marL="0" indent="0">
              <a:buNone/>
            </a:pPr>
            <a:r>
              <a:rPr lang="en-US" sz="1100" b="1" kern="0" spc="150" dirty="0">
                <a:solidFill>
                  <a:srgbClr val="EAF4FA"/>
                </a:solidFill>
                <a:latin typeface="Calibri" pitchFamily="34" charset="0"/>
                <a:ea typeface="Calibri" pitchFamily="34" charset="-122"/>
                <a:cs typeface="Calibri" pitchFamily="34" charset="-120"/>
              </a:rPr>
              <a:t>DESIGN PRINCIPLE</a:t>
            </a:r>
            <a:endParaRPr lang="en-US" sz="1100" dirty="0"/>
          </a:p>
        </p:txBody>
      </p:sp>
      <p:sp>
        <p:nvSpPr>
          <p:cNvPr id="30" name="Text 28"/>
          <p:cNvSpPr txBox="1"/>
          <p:nvPr/>
        </p:nvSpPr>
        <p:spPr>
          <a:xfrm>
            <a:off x="868680" y="5257800"/>
            <a:ext cx="10424160" cy="731520"/>
          </a:xfrm>
          <a:prstGeom prst="rect">
            <a:avLst/>
          </a:prstGeom>
          <a:noFill/>
          <a:ln/>
        </p:spPr>
        <p:txBody>
          <a:bodyPr wrap="square" lIns="0" tIns="0" rIns="0" bIns="0" rtlCol="0" anchor="ctr"/>
          <a:lstStyle/>
          <a:p>
            <a:pPr marL="0" indent="0">
              <a:lnSpc>
                <a:spcPct val="125000"/>
              </a:lnSpc>
              <a:buNone/>
            </a:pPr>
            <a:r>
              <a:rPr lang="en-US" sz="1400" i="1" dirty="0">
                <a:solidFill>
                  <a:srgbClr val="FFFFFF"/>
                </a:solidFill>
                <a:latin typeface="Calibri" pitchFamily="34" charset="0"/>
                <a:ea typeface="Calibri" pitchFamily="34" charset="-122"/>
                <a:cs typeface="Calibri" pitchFamily="34" charset="-120"/>
              </a:rPr>
              <a:t>When in doubt, the system protects the resource and asks a human — reclamation only proceeds once ownership, activity, and approval all agree it's safe.</a:t>
            </a:r>
            <a:endParaRPr lang="en-US" sz="1400" dirty="0"/>
          </a:p>
        </p:txBody>
      </p:sp>
      <p:sp>
        <p:nvSpPr>
          <p:cNvPr id="31" name="Text 29"/>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8FA3D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07  ·  EVALUATION DESIGN</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Baseline vs. Ownership-Aware Approach</a:t>
            </a:r>
            <a:endParaRPr lang="en-US" sz="3000" dirty="0"/>
          </a:p>
        </p:txBody>
      </p:sp>
      <p:sp>
        <p:nvSpPr>
          <p:cNvPr id="4" name="Shape 2"/>
          <p:cNvSpPr/>
          <p:nvPr/>
        </p:nvSpPr>
        <p:spPr>
          <a:xfrm>
            <a:off x="548640" y="1691640"/>
            <a:ext cx="5349240" cy="4480560"/>
          </a:xfrm>
          <a:prstGeom prst="roundRect">
            <a:avLst>
              <a:gd name="adj" fmla="val 2449"/>
            </a:avLst>
          </a:prstGeom>
          <a:solidFill>
            <a:srgbClr val="EAF4FA"/>
          </a:solidFill>
          <a:ln/>
        </p:spPr>
      </p:sp>
      <p:sp>
        <p:nvSpPr>
          <p:cNvPr id="5" name="Text 3"/>
          <p:cNvSpPr txBox="1"/>
          <p:nvPr/>
        </p:nvSpPr>
        <p:spPr>
          <a:xfrm>
            <a:off x="868680" y="1965960"/>
            <a:ext cx="4709160" cy="320040"/>
          </a:xfrm>
          <a:prstGeom prst="rect">
            <a:avLst/>
          </a:prstGeom>
          <a:noFill/>
          <a:ln/>
        </p:spPr>
        <p:txBody>
          <a:bodyPr wrap="square" lIns="0" tIns="0" rIns="0" bIns="0" rtlCol="0" anchor="ctr"/>
          <a:lstStyle/>
          <a:p>
            <a:pPr marL="0" indent="0">
              <a:buNone/>
            </a:pPr>
            <a:r>
              <a:rPr lang="en-US" sz="1300" b="1" kern="0" spc="150" dirty="0">
                <a:solidFill>
                  <a:srgbClr val="C97B2E"/>
                </a:solidFill>
                <a:latin typeface="Calibri" pitchFamily="34" charset="0"/>
                <a:ea typeface="Calibri" pitchFamily="34" charset="-122"/>
                <a:cs typeface="Calibri" pitchFamily="34" charset="-120"/>
              </a:rPr>
              <a:t>SIMPLE BASELINE</a:t>
            </a:r>
            <a:endParaRPr lang="en-US" sz="1300" dirty="0"/>
          </a:p>
        </p:txBody>
      </p:sp>
      <p:sp>
        <p:nvSpPr>
          <p:cNvPr id="6" name="Text 4"/>
          <p:cNvSpPr txBox="1"/>
          <p:nvPr/>
        </p:nvSpPr>
        <p:spPr>
          <a:xfrm>
            <a:off x="868680" y="2313432"/>
            <a:ext cx="4709160" cy="365760"/>
          </a:xfrm>
          <a:prstGeom prst="rect">
            <a:avLst/>
          </a:prstGeom>
          <a:noFill/>
          <a:ln/>
        </p:spPr>
        <p:txBody>
          <a:bodyPr wrap="square" lIns="0" tIns="0" rIns="0" bIns="0"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Utilisation-only detection</a:t>
            </a:r>
            <a:endParaRPr lang="en-US" sz="1700" dirty="0"/>
          </a:p>
        </p:txBody>
      </p:sp>
      <p:sp>
        <p:nvSpPr>
          <p:cNvPr id="7" name="Text 5"/>
          <p:cNvSpPr txBox="1"/>
          <p:nvPr/>
        </p:nvSpPr>
        <p:spPr>
          <a:xfrm>
            <a:off x="868680" y="2788920"/>
            <a:ext cx="4709160" cy="274320"/>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Considers:</a:t>
            </a:r>
            <a:endParaRPr lang="en-US" sz="1200" dirty="0"/>
          </a:p>
        </p:txBody>
      </p:sp>
      <p:sp>
        <p:nvSpPr>
          <p:cNvPr id="8" name="Text 6"/>
          <p:cNvSpPr txBox="1"/>
          <p:nvPr/>
        </p:nvSpPr>
        <p:spPr>
          <a:xfrm>
            <a:off x="1051560" y="3108960"/>
            <a:ext cx="4434840" cy="310896"/>
          </a:xfrm>
          <a:prstGeom prst="rect">
            <a:avLst/>
          </a:prstGeom>
          <a:noFill/>
          <a:ln/>
        </p:spPr>
        <p:txBody>
          <a:bodyPr wrap="square" lIns="0" tIns="0" rIns="0" bIns="0" rtlCol="0" anchor="ctr"/>
          <a:lstStyle/>
          <a:p>
            <a:pPr marL="0" indent="0">
              <a:buNone/>
            </a:pPr>
            <a:r>
              <a:rPr lang="en-US" sz="1250" dirty="0">
                <a:solidFill>
                  <a:srgbClr val="21295C"/>
                </a:solidFill>
                <a:latin typeface="Calibri" pitchFamily="34" charset="0"/>
                <a:ea typeface="Calibri" pitchFamily="34" charset="-122"/>
                <a:cs typeface="Calibri" pitchFamily="34" charset="-120"/>
              </a:rPr>
              <a:t>+ Utilisation threshold</a:t>
            </a:r>
            <a:endParaRPr lang="en-US" sz="1250" dirty="0"/>
          </a:p>
        </p:txBody>
      </p:sp>
      <p:sp>
        <p:nvSpPr>
          <p:cNvPr id="9" name="Text 7"/>
          <p:cNvSpPr txBox="1"/>
          <p:nvPr/>
        </p:nvSpPr>
        <p:spPr>
          <a:xfrm>
            <a:off x="1051560" y="3438144"/>
            <a:ext cx="4434840" cy="310896"/>
          </a:xfrm>
          <a:prstGeom prst="rect">
            <a:avLst/>
          </a:prstGeom>
          <a:noFill/>
          <a:ln/>
        </p:spPr>
        <p:txBody>
          <a:bodyPr wrap="square" lIns="0" tIns="0" rIns="0" bIns="0" rtlCol="0" anchor="ctr"/>
          <a:lstStyle/>
          <a:p>
            <a:pPr marL="0" indent="0">
              <a:buNone/>
            </a:pPr>
            <a:r>
              <a:rPr lang="en-US" sz="1250" dirty="0">
                <a:solidFill>
                  <a:srgbClr val="21295C"/>
                </a:solidFill>
                <a:latin typeface="Calibri" pitchFamily="34" charset="0"/>
                <a:ea typeface="Calibri" pitchFamily="34" charset="-122"/>
                <a:cs typeface="Calibri" pitchFamily="34" charset="-120"/>
              </a:rPr>
              <a:t>+ Minimum idle duration</a:t>
            </a:r>
            <a:endParaRPr lang="en-US" sz="1250" dirty="0"/>
          </a:p>
        </p:txBody>
      </p:sp>
      <p:sp>
        <p:nvSpPr>
          <p:cNvPr id="10" name="Text 8"/>
          <p:cNvSpPr txBox="1"/>
          <p:nvPr/>
        </p:nvSpPr>
        <p:spPr>
          <a:xfrm>
            <a:off x="868680" y="3977640"/>
            <a:ext cx="4709160" cy="274320"/>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Does not consider:</a:t>
            </a:r>
            <a:endParaRPr lang="en-US" sz="1200" dirty="0"/>
          </a:p>
        </p:txBody>
      </p:sp>
      <p:sp>
        <p:nvSpPr>
          <p:cNvPr id="11" name="Text 9"/>
          <p:cNvSpPr txBox="1"/>
          <p:nvPr/>
        </p:nvSpPr>
        <p:spPr>
          <a:xfrm>
            <a:off x="1051560" y="4297680"/>
            <a:ext cx="4434840" cy="292608"/>
          </a:xfrm>
          <a:prstGeom prst="rect">
            <a:avLst/>
          </a:prstGeom>
          <a:noFill/>
          <a:ln/>
        </p:spPr>
        <p:txBody>
          <a:bodyPr wrap="square" lIns="0" tIns="0" rIns="0" bIns="0" rtlCol="0" anchor="ctr"/>
          <a:lstStyle/>
          <a:p>
            <a:pPr marL="0" indent="0">
              <a:buNone/>
            </a:pPr>
            <a:r>
              <a:rPr lang="en-US" sz="1250" dirty="0">
                <a:solidFill>
                  <a:srgbClr val="4A5568"/>
                </a:solidFill>
                <a:latin typeface="Calibri" pitchFamily="34" charset="0"/>
                <a:ea typeface="Calibri" pitchFamily="34" charset="-122"/>
                <a:cs typeface="Calibri" pitchFamily="34" charset="-120"/>
              </a:rPr>
              <a:t>− Ownership</a:t>
            </a:r>
            <a:endParaRPr lang="en-US" sz="1250" dirty="0"/>
          </a:p>
        </p:txBody>
      </p:sp>
      <p:sp>
        <p:nvSpPr>
          <p:cNvPr id="12" name="Text 10"/>
          <p:cNvSpPr txBox="1"/>
          <p:nvPr/>
        </p:nvSpPr>
        <p:spPr>
          <a:xfrm>
            <a:off x="1051560" y="4608576"/>
            <a:ext cx="4434840" cy="292608"/>
          </a:xfrm>
          <a:prstGeom prst="rect">
            <a:avLst/>
          </a:prstGeom>
          <a:noFill/>
          <a:ln/>
        </p:spPr>
        <p:txBody>
          <a:bodyPr wrap="square" lIns="0" tIns="0" rIns="0" bIns="0" rtlCol="0" anchor="ctr"/>
          <a:lstStyle/>
          <a:p>
            <a:pPr marL="0" indent="0">
              <a:buNone/>
            </a:pPr>
            <a:r>
              <a:rPr lang="en-US" sz="1250" dirty="0">
                <a:solidFill>
                  <a:srgbClr val="4A5568"/>
                </a:solidFill>
                <a:latin typeface="Calibri" pitchFamily="34" charset="0"/>
                <a:ea typeface="Calibri" pitchFamily="34" charset="-122"/>
                <a:cs typeface="Calibri" pitchFamily="34" charset="-120"/>
              </a:rPr>
              <a:t>− Tags</a:t>
            </a:r>
            <a:endParaRPr lang="en-US" sz="1250" dirty="0"/>
          </a:p>
        </p:txBody>
      </p:sp>
      <p:sp>
        <p:nvSpPr>
          <p:cNvPr id="13" name="Text 11"/>
          <p:cNvSpPr txBox="1"/>
          <p:nvPr/>
        </p:nvSpPr>
        <p:spPr>
          <a:xfrm>
            <a:off x="1051560" y="4919472"/>
            <a:ext cx="4434840" cy="292608"/>
          </a:xfrm>
          <a:prstGeom prst="rect">
            <a:avLst/>
          </a:prstGeom>
          <a:noFill/>
          <a:ln/>
        </p:spPr>
        <p:txBody>
          <a:bodyPr wrap="square" lIns="0" tIns="0" rIns="0" bIns="0" rtlCol="0" anchor="ctr"/>
          <a:lstStyle/>
          <a:p>
            <a:pPr marL="0" indent="0">
              <a:buNone/>
            </a:pPr>
            <a:r>
              <a:rPr lang="en-US" sz="1250" dirty="0">
                <a:solidFill>
                  <a:srgbClr val="4A5568"/>
                </a:solidFill>
                <a:latin typeface="Calibri" pitchFamily="34" charset="0"/>
                <a:ea typeface="Calibri" pitchFamily="34" charset="-122"/>
                <a:cs typeface="Calibri" pitchFamily="34" charset="-120"/>
              </a:rPr>
              <a:t>− Course / semester calendar</a:t>
            </a:r>
            <a:endParaRPr lang="en-US" sz="1250" dirty="0"/>
          </a:p>
        </p:txBody>
      </p:sp>
      <p:sp>
        <p:nvSpPr>
          <p:cNvPr id="14" name="Text 12"/>
          <p:cNvSpPr txBox="1"/>
          <p:nvPr/>
        </p:nvSpPr>
        <p:spPr>
          <a:xfrm>
            <a:off x="1051560" y="5230368"/>
            <a:ext cx="4434840" cy="292608"/>
          </a:xfrm>
          <a:prstGeom prst="rect">
            <a:avLst/>
          </a:prstGeom>
          <a:noFill/>
          <a:ln/>
        </p:spPr>
        <p:txBody>
          <a:bodyPr wrap="square" lIns="0" tIns="0" rIns="0" bIns="0" rtlCol="0" anchor="ctr"/>
          <a:lstStyle/>
          <a:p>
            <a:pPr marL="0" indent="0">
              <a:buNone/>
            </a:pPr>
            <a:r>
              <a:rPr lang="en-US" sz="1250" dirty="0">
                <a:solidFill>
                  <a:srgbClr val="4A5568"/>
                </a:solidFill>
                <a:latin typeface="Calibri" pitchFamily="34" charset="0"/>
                <a:ea typeface="Calibri" pitchFamily="34" charset="-122"/>
                <a:cs typeface="Calibri" pitchFamily="34" charset="-120"/>
              </a:rPr>
              <a:t>− Approval workflow</a:t>
            </a:r>
            <a:endParaRPr lang="en-US" sz="1250" dirty="0"/>
          </a:p>
        </p:txBody>
      </p:sp>
      <p:sp>
        <p:nvSpPr>
          <p:cNvPr id="15" name="Text 13"/>
          <p:cNvSpPr txBox="1"/>
          <p:nvPr/>
        </p:nvSpPr>
        <p:spPr>
          <a:xfrm>
            <a:off x="1051560" y="5541264"/>
            <a:ext cx="4434840" cy="292608"/>
          </a:xfrm>
          <a:prstGeom prst="rect">
            <a:avLst/>
          </a:prstGeom>
          <a:noFill/>
          <a:ln/>
        </p:spPr>
        <p:txBody>
          <a:bodyPr wrap="square" lIns="0" tIns="0" rIns="0" bIns="0" rtlCol="0" anchor="ctr"/>
          <a:lstStyle/>
          <a:p>
            <a:pPr marL="0" indent="0">
              <a:buNone/>
            </a:pPr>
            <a:r>
              <a:rPr lang="en-US" sz="1250" dirty="0">
                <a:solidFill>
                  <a:srgbClr val="4A5568"/>
                </a:solidFill>
                <a:latin typeface="Calibri" pitchFamily="34" charset="0"/>
                <a:ea typeface="Calibri" pitchFamily="34" charset="-122"/>
                <a:cs typeface="Calibri" pitchFamily="34" charset="-120"/>
              </a:rPr>
              <a:t>− Organisational context</a:t>
            </a:r>
            <a:endParaRPr lang="en-US" sz="1250" dirty="0"/>
          </a:p>
        </p:txBody>
      </p:sp>
      <p:sp>
        <p:nvSpPr>
          <p:cNvPr id="16" name="Shape 14"/>
          <p:cNvSpPr/>
          <p:nvPr/>
        </p:nvSpPr>
        <p:spPr>
          <a:xfrm>
            <a:off x="6263640" y="1691640"/>
            <a:ext cx="5349240" cy="4480560"/>
          </a:xfrm>
          <a:prstGeom prst="roundRect">
            <a:avLst>
              <a:gd name="adj" fmla="val 2449"/>
            </a:avLst>
          </a:prstGeom>
          <a:solidFill>
            <a:srgbClr val="21295C"/>
          </a:solidFill>
          <a:ln/>
        </p:spPr>
      </p:sp>
      <p:sp>
        <p:nvSpPr>
          <p:cNvPr id="17" name="Text 15"/>
          <p:cNvSpPr txBox="1"/>
          <p:nvPr/>
        </p:nvSpPr>
        <p:spPr>
          <a:xfrm>
            <a:off x="6583680" y="1965960"/>
            <a:ext cx="4709160" cy="320040"/>
          </a:xfrm>
          <a:prstGeom prst="rect">
            <a:avLst/>
          </a:prstGeom>
          <a:noFill/>
          <a:ln/>
        </p:spPr>
        <p:txBody>
          <a:bodyPr wrap="square" lIns="0" tIns="0" rIns="0" bIns="0" rtlCol="0" anchor="ctr"/>
          <a:lstStyle/>
          <a:p>
            <a:pPr marL="0" indent="0">
              <a:buNone/>
            </a:pPr>
            <a:r>
              <a:rPr lang="en-US" sz="1300" b="1" kern="0" spc="150" dirty="0">
                <a:solidFill>
                  <a:srgbClr val="8FD3E8"/>
                </a:solidFill>
                <a:latin typeface="Calibri" pitchFamily="34" charset="0"/>
                <a:ea typeface="Calibri" pitchFamily="34" charset="-122"/>
                <a:cs typeface="Calibri" pitchFamily="34" charset="-120"/>
              </a:rPr>
              <a:t>PROPOSED SYSTEM</a:t>
            </a:r>
            <a:endParaRPr lang="en-US" sz="1300" dirty="0"/>
          </a:p>
        </p:txBody>
      </p:sp>
      <p:sp>
        <p:nvSpPr>
          <p:cNvPr id="18" name="Text 16"/>
          <p:cNvSpPr txBox="1"/>
          <p:nvPr/>
        </p:nvSpPr>
        <p:spPr>
          <a:xfrm>
            <a:off x="6583680" y="2313432"/>
            <a:ext cx="470916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Ownership-aware detection</a:t>
            </a:r>
            <a:endParaRPr lang="en-US" sz="1700" dirty="0"/>
          </a:p>
        </p:txBody>
      </p:sp>
      <p:sp>
        <p:nvSpPr>
          <p:cNvPr id="19" name="Text 17"/>
          <p:cNvSpPr txBox="1"/>
          <p:nvPr/>
        </p:nvSpPr>
        <p:spPr>
          <a:xfrm>
            <a:off x="6583680" y="2788920"/>
            <a:ext cx="4709160" cy="36576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Adds full organisational context on top of utilisation:</a:t>
            </a:r>
            <a:endParaRPr lang="en-US" sz="1200" dirty="0"/>
          </a:p>
        </p:txBody>
      </p:sp>
      <p:sp>
        <p:nvSpPr>
          <p:cNvPr id="20" name="Text 18"/>
          <p:cNvSpPr txBox="1"/>
          <p:nvPr/>
        </p:nvSpPr>
        <p:spPr>
          <a:xfrm>
            <a:off x="6766560" y="3246120"/>
            <a:ext cx="4434840" cy="310896"/>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Ownership resolution</a:t>
            </a:r>
            <a:endParaRPr lang="en-US" sz="1250" dirty="0"/>
          </a:p>
        </p:txBody>
      </p:sp>
      <p:sp>
        <p:nvSpPr>
          <p:cNvPr id="21" name="Text 19"/>
          <p:cNvSpPr txBox="1"/>
          <p:nvPr/>
        </p:nvSpPr>
        <p:spPr>
          <a:xfrm>
            <a:off x="6766560" y="3575304"/>
            <a:ext cx="4434840" cy="310896"/>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Tag validation</a:t>
            </a:r>
            <a:endParaRPr lang="en-US" sz="1250" dirty="0"/>
          </a:p>
        </p:txBody>
      </p:sp>
      <p:sp>
        <p:nvSpPr>
          <p:cNvPr id="22" name="Text 20"/>
          <p:cNvSpPr txBox="1"/>
          <p:nvPr/>
        </p:nvSpPr>
        <p:spPr>
          <a:xfrm>
            <a:off x="6766560" y="3904488"/>
            <a:ext cx="4434840" cy="310896"/>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Course / semester calendar</a:t>
            </a:r>
            <a:endParaRPr lang="en-US" sz="1250" dirty="0"/>
          </a:p>
        </p:txBody>
      </p:sp>
      <p:sp>
        <p:nvSpPr>
          <p:cNvPr id="23" name="Text 21"/>
          <p:cNvSpPr txBox="1"/>
          <p:nvPr/>
        </p:nvSpPr>
        <p:spPr>
          <a:xfrm>
            <a:off x="6766560" y="4233672"/>
            <a:ext cx="4434840" cy="310896"/>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Owner approval workflow</a:t>
            </a:r>
            <a:endParaRPr lang="en-US" sz="1250" dirty="0"/>
          </a:p>
        </p:txBody>
      </p:sp>
      <p:sp>
        <p:nvSpPr>
          <p:cNvPr id="24" name="Text 22"/>
          <p:cNvSpPr txBox="1"/>
          <p:nvPr/>
        </p:nvSpPr>
        <p:spPr>
          <a:xfrm>
            <a:off x="6766560" y="4562856"/>
            <a:ext cx="4434840" cy="310896"/>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Configurable expiry &amp; audit trail</a:t>
            </a:r>
            <a:endParaRPr lang="en-US" sz="1250" dirty="0"/>
          </a:p>
        </p:txBody>
      </p:sp>
      <p:sp>
        <p:nvSpPr>
          <p:cNvPr id="25" name="Text 23"/>
          <p:cNvSpPr txBox="1"/>
          <p:nvPr/>
        </p:nvSpPr>
        <p:spPr>
          <a:xfrm>
            <a:off x="6583680" y="5257800"/>
            <a:ext cx="4709160" cy="777240"/>
          </a:xfrm>
          <a:prstGeom prst="rect">
            <a:avLst/>
          </a:prstGeom>
          <a:noFill/>
          <a:ln/>
        </p:spPr>
        <p:txBody>
          <a:bodyPr wrap="square" lIns="0" tIns="0" rIns="0" bIns="0" rtlCol="0" anchor="ctr"/>
          <a:lstStyle/>
          <a:p>
            <a:pPr marL="0" indent="0">
              <a:lnSpc>
                <a:spcPct val="120000"/>
              </a:lnSpc>
              <a:buNone/>
            </a:pPr>
            <a:r>
              <a:rPr lang="en-US" sz="1150" i="1" dirty="0">
                <a:solidFill>
                  <a:srgbClr val="B9C6E8"/>
                </a:solidFill>
                <a:latin typeface="Calibri" pitchFamily="34" charset="0"/>
                <a:ea typeface="Calibri" pitchFamily="34" charset="-122"/>
                <a:cs typeface="Calibri" pitchFamily="34" charset="-120"/>
              </a:rPr>
              <a:t>Compared against the baseline to measure whether cost is reduced without wrongly reclaiming active resources.</a:t>
            </a:r>
            <a:endParaRPr lang="en-US" sz="1150" dirty="0"/>
          </a:p>
        </p:txBody>
      </p:sp>
      <p:sp>
        <p:nvSpPr>
          <p:cNvPr id="26" name="Text 24"/>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08  ·  DATASET DESIGN</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 Synthetic University Cloud Dataset</a:t>
            </a:r>
            <a:endParaRPr lang="en-US" sz="30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Structured to reflect realistic mixes of active and idle resources, known and unknown owners.</a:t>
            </a:r>
            <a:endParaRPr lang="en-US" sz="1300" dirty="0"/>
          </a:p>
        </p:txBody>
      </p:sp>
      <p:sp>
        <p:nvSpPr>
          <p:cNvPr id="5" name="Shape 3"/>
          <p:cNvSpPr/>
          <p:nvPr/>
        </p:nvSpPr>
        <p:spPr>
          <a:xfrm>
            <a:off x="548640" y="1965960"/>
            <a:ext cx="2651760" cy="1280160"/>
          </a:xfrm>
          <a:prstGeom prst="roundRect">
            <a:avLst>
              <a:gd name="adj" fmla="val 7143"/>
            </a:avLst>
          </a:prstGeom>
          <a:solidFill>
            <a:srgbClr val="065A82"/>
          </a:solidFill>
          <a:ln/>
        </p:spPr>
      </p:sp>
      <p:sp>
        <p:nvSpPr>
          <p:cNvPr id="6" name="Text 4"/>
          <p:cNvSpPr txBox="1"/>
          <p:nvPr/>
        </p:nvSpPr>
        <p:spPr>
          <a:xfrm>
            <a:off x="731520" y="196596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Resource inventory</a:t>
            </a:r>
            <a:endParaRPr lang="en-US" sz="1400" dirty="0"/>
          </a:p>
        </p:txBody>
      </p:sp>
      <p:sp>
        <p:nvSpPr>
          <p:cNvPr id="7" name="Shape 5"/>
          <p:cNvSpPr/>
          <p:nvPr/>
        </p:nvSpPr>
        <p:spPr>
          <a:xfrm>
            <a:off x="3346704" y="1965960"/>
            <a:ext cx="2651760" cy="1280160"/>
          </a:xfrm>
          <a:prstGeom prst="roundRect">
            <a:avLst>
              <a:gd name="adj" fmla="val 7143"/>
            </a:avLst>
          </a:prstGeom>
          <a:solidFill>
            <a:srgbClr val="1C7293"/>
          </a:solidFill>
          <a:ln/>
        </p:spPr>
      </p:sp>
      <p:sp>
        <p:nvSpPr>
          <p:cNvPr id="8" name="Text 6"/>
          <p:cNvSpPr txBox="1"/>
          <p:nvPr/>
        </p:nvSpPr>
        <p:spPr>
          <a:xfrm>
            <a:off x="3529584" y="196596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Utilisation metrics</a:t>
            </a:r>
            <a:endParaRPr lang="en-US" sz="1400" dirty="0"/>
          </a:p>
        </p:txBody>
      </p:sp>
      <p:sp>
        <p:nvSpPr>
          <p:cNvPr id="9" name="Shape 7"/>
          <p:cNvSpPr/>
          <p:nvPr/>
        </p:nvSpPr>
        <p:spPr>
          <a:xfrm>
            <a:off x="6144768" y="1965960"/>
            <a:ext cx="2651760" cy="1280160"/>
          </a:xfrm>
          <a:prstGeom prst="roundRect">
            <a:avLst>
              <a:gd name="adj" fmla="val 7143"/>
            </a:avLst>
          </a:prstGeom>
          <a:solidFill>
            <a:srgbClr val="065A82"/>
          </a:solidFill>
          <a:ln/>
        </p:spPr>
      </p:sp>
      <p:sp>
        <p:nvSpPr>
          <p:cNvPr id="10" name="Text 8"/>
          <p:cNvSpPr txBox="1"/>
          <p:nvPr/>
        </p:nvSpPr>
        <p:spPr>
          <a:xfrm>
            <a:off x="6327648" y="196596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Owners</a:t>
            </a:r>
            <a:endParaRPr lang="en-US" sz="1400" dirty="0"/>
          </a:p>
        </p:txBody>
      </p:sp>
      <p:sp>
        <p:nvSpPr>
          <p:cNvPr id="11" name="Shape 9"/>
          <p:cNvSpPr/>
          <p:nvPr/>
        </p:nvSpPr>
        <p:spPr>
          <a:xfrm>
            <a:off x="8942832" y="1965960"/>
            <a:ext cx="2651760" cy="1280160"/>
          </a:xfrm>
          <a:prstGeom prst="roundRect">
            <a:avLst>
              <a:gd name="adj" fmla="val 7143"/>
            </a:avLst>
          </a:prstGeom>
          <a:solidFill>
            <a:srgbClr val="1C7293"/>
          </a:solidFill>
          <a:ln/>
        </p:spPr>
      </p:sp>
      <p:sp>
        <p:nvSpPr>
          <p:cNvPr id="12" name="Text 10"/>
          <p:cNvSpPr txBox="1"/>
          <p:nvPr/>
        </p:nvSpPr>
        <p:spPr>
          <a:xfrm>
            <a:off x="9125712" y="196596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Resource tags</a:t>
            </a:r>
            <a:endParaRPr lang="en-US" sz="1400" dirty="0"/>
          </a:p>
        </p:txBody>
      </p:sp>
      <p:sp>
        <p:nvSpPr>
          <p:cNvPr id="13" name="Shape 11"/>
          <p:cNvSpPr/>
          <p:nvPr/>
        </p:nvSpPr>
        <p:spPr>
          <a:xfrm>
            <a:off x="548640" y="3474720"/>
            <a:ext cx="2651760" cy="1280160"/>
          </a:xfrm>
          <a:prstGeom prst="roundRect">
            <a:avLst>
              <a:gd name="adj" fmla="val 7143"/>
            </a:avLst>
          </a:prstGeom>
          <a:solidFill>
            <a:srgbClr val="065A82"/>
          </a:solidFill>
          <a:ln/>
        </p:spPr>
      </p:sp>
      <p:sp>
        <p:nvSpPr>
          <p:cNvPr id="14" name="Text 12"/>
          <p:cNvSpPr txBox="1"/>
          <p:nvPr/>
        </p:nvSpPr>
        <p:spPr>
          <a:xfrm>
            <a:off x="731520" y="347472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Courses</a:t>
            </a:r>
            <a:endParaRPr lang="en-US" sz="1400" dirty="0"/>
          </a:p>
        </p:txBody>
      </p:sp>
      <p:sp>
        <p:nvSpPr>
          <p:cNvPr id="15" name="Shape 13"/>
          <p:cNvSpPr/>
          <p:nvPr/>
        </p:nvSpPr>
        <p:spPr>
          <a:xfrm>
            <a:off x="3346704" y="3474720"/>
            <a:ext cx="2651760" cy="1280160"/>
          </a:xfrm>
          <a:prstGeom prst="roundRect">
            <a:avLst>
              <a:gd name="adj" fmla="val 7143"/>
            </a:avLst>
          </a:prstGeom>
          <a:solidFill>
            <a:srgbClr val="1C7293"/>
          </a:solidFill>
          <a:ln/>
        </p:spPr>
      </p:sp>
      <p:sp>
        <p:nvSpPr>
          <p:cNvPr id="16" name="Text 14"/>
          <p:cNvSpPr txBox="1"/>
          <p:nvPr/>
        </p:nvSpPr>
        <p:spPr>
          <a:xfrm>
            <a:off x="3529584" y="347472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Semesters</a:t>
            </a:r>
            <a:endParaRPr lang="en-US" sz="1400" dirty="0"/>
          </a:p>
        </p:txBody>
      </p:sp>
      <p:sp>
        <p:nvSpPr>
          <p:cNvPr id="17" name="Shape 15"/>
          <p:cNvSpPr/>
          <p:nvPr/>
        </p:nvSpPr>
        <p:spPr>
          <a:xfrm>
            <a:off x="6144768" y="3474720"/>
            <a:ext cx="2651760" cy="1280160"/>
          </a:xfrm>
          <a:prstGeom prst="roundRect">
            <a:avLst>
              <a:gd name="adj" fmla="val 7143"/>
            </a:avLst>
          </a:prstGeom>
          <a:solidFill>
            <a:srgbClr val="065A82"/>
          </a:solidFill>
          <a:ln/>
        </p:spPr>
      </p:sp>
      <p:sp>
        <p:nvSpPr>
          <p:cNvPr id="18" name="Text 16"/>
          <p:cNvSpPr txBox="1"/>
          <p:nvPr/>
        </p:nvSpPr>
        <p:spPr>
          <a:xfrm>
            <a:off x="6327648" y="347472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Environment calendars</a:t>
            </a:r>
            <a:endParaRPr lang="en-US" sz="1400" dirty="0"/>
          </a:p>
        </p:txBody>
      </p:sp>
      <p:sp>
        <p:nvSpPr>
          <p:cNvPr id="19" name="Shape 17"/>
          <p:cNvSpPr/>
          <p:nvPr/>
        </p:nvSpPr>
        <p:spPr>
          <a:xfrm>
            <a:off x="8942832" y="3474720"/>
            <a:ext cx="2651760" cy="1280160"/>
          </a:xfrm>
          <a:prstGeom prst="roundRect">
            <a:avLst>
              <a:gd name="adj" fmla="val 7143"/>
            </a:avLst>
          </a:prstGeom>
          <a:solidFill>
            <a:srgbClr val="1C7293"/>
          </a:solidFill>
          <a:ln/>
        </p:spPr>
      </p:sp>
      <p:sp>
        <p:nvSpPr>
          <p:cNvPr id="20" name="Text 18"/>
          <p:cNvSpPr txBox="1"/>
          <p:nvPr/>
        </p:nvSpPr>
        <p:spPr>
          <a:xfrm>
            <a:off x="9125712" y="3474720"/>
            <a:ext cx="2286000" cy="1280160"/>
          </a:xfrm>
          <a:prstGeom prst="rect">
            <a:avLst/>
          </a:prstGeom>
          <a:noFill/>
          <a:ln/>
        </p:spPr>
        <p:txBody>
          <a:bodyPr wrap="square" lIns="0" tIns="0" rIns="0" bIns="0" rtlCol="0" anchor="ctr"/>
          <a:lstStyle/>
          <a:p>
            <a:pPr marL="0" indent="0" algn="l">
              <a:lnSpc>
                <a:spcPct val="105000"/>
              </a:lnSpc>
              <a:buNone/>
            </a:pPr>
            <a:r>
              <a:rPr lang="en-US" sz="1400" b="1" dirty="0">
                <a:solidFill>
                  <a:srgbClr val="FFFFFF"/>
                </a:solidFill>
                <a:latin typeface="Calibri" pitchFamily="34" charset="0"/>
                <a:ea typeface="Calibri" pitchFamily="34" charset="-122"/>
                <a:cs typeface="Calibri" pitchFamily="34" charset="-120"/>
              </a:rPr>
              <a:t>Monthly resource costs</a:t>
            </a:r>
            <a:endParaRPr lang="en-US" sz="1400" dirty="0"/>
          </a:p>
        </p:txBody>
      </p:sp>
      <p:sp>
        <p:nvSpPr>
          <p:cNvPr id="21" name="Shape 19"/>
          <p:cNvSpPr/>
          <p:nvPr/>
        </p:nvSpPr>
        <p:spPr>
          <a:xfrm>
            <a:off x="548640" y="5074920"/>
            <a:ext cx="11064240" cy="777240"/>
          </a:xfrm>
          <a:prstGeom prst="roundRect">
            <a:avLst>
              <a:gd name="adj" fmla="val 9412"/>
            </a:avLst>
          </a:prstGeom>
          <a:solidFill>
            <a:srgbClr val="EAF4FA"/>
          </a:solidFill>
          <a:ln/>
        </p:spPr>
      </p:sp>
      <p:sp>
        <p:nvSpPr>
          <p:cNvPr id="22" name="Text 20"/>
          <p:cNvSpPr txBox="1"/>
          <p:nvPr/>
        </p:nvSpPr>
        <p:spPr>
          <a:xfrm>
            <a:off x="777240" y="5074920"/>
            <a:ext cx="10607040" cy="777240"/>
          </a:xfrm>
          <a:prstGeom prst="rect">
            <a:avLst/>
          </a:prstGeom>
          <a:noFill/>
          <a:ln/>
        </p:spPr>
        <p:txBody>
          <a:bodyPr wrap="square" lIns="0" tIns="0" rIns="0" bIns="0" rtlCol="0" anchor="ctr"/>
          <a:lstStyle/>
          <a:p>
            <a:pPr marL="0" indent="0">
              <a:buNone/>
            </a:pPr>
            <a:r>
              <a:rPr lang="en-US" sz="1250" i="1" dirty="0">
                <a:solidFill>
                  <a:srgbClr val="21295C"/>
                </a:solidFill>
                <a:latin typeface="Calibri" pitchFamily="34" charset="0"/>
                <a:ea typeface="Calibri" pitchFamily="34" charset="-122"/>
                <a:cs typeface="Calibri" pitchFamily="34" charset="-120"/>
              </a:rPr>
              <a:t>Includes realistic edge cases: different utilisation patterns, different costs, and both known and unknown ownership.</a:t>
            </a:r>
            <a:endParaRPr lang="en-US" sz="1250" dirty="0"/>
          </a:p>
        </p:txBody>
      </p:sp>
      <p:sp>
        <p:nvSpPr>
          <p:cNvPr id="23" name="Text 21"/>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09  ·  TESTING STRATEGY</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Failure &amp; Edge Cases Identified</a:t>
            </a:r>
            <a:endParaRPr lang="en-US" sz="3000" dirty="0"/>
          </a:p>
        </p:txBody>
      </p:sp>
      <p:sp>
        <p:nvSpPr>
          <p:cNvPr id="4" name="Shape 2"/>
          <p:cNvSpPr/>
          <p:nvPr/>
        </p:nvSpPr>
        <p:spPr>
          <a:xfrm>
            <a:off x="548640" y="1600200"/>
            <a:ext cx="3520440" cy="2103120"/>
          </a:xfrm>
          <a:prstGeom prst="roundRect">
            <a:avLst>
              <a:gd name="adj" fmla="val 4348"/>
            </a:avLst>
          </a:prstGeom>
          <a:solidFill>
            <a:srgbClr val="21295C"/>
          </a:solidFill>
          <a:ln/>
        </p:spPr>
      </p:sp>
      <p:sp>
        <p:nvSpPr>
          <p:cNvPr id="5" name="Shape 3"/>
          <p:cNvSpPr/>
          <p:nvPr/>
        </p:nvSpPr>
        <p:spPr>
          <a:xfrm>
            <a:off x="777240" y="1828800"/>
            <a:ext cx="365760" cy="365760"/>
          </a:xfrm>
          <a:prstGeom prst="ellipse">
            <a:avLst/>
          </a:prstGeom>
          <a:solidFill>
            <a:srgbClr val="C97B2E"/>
          </a:solidFill>
          <a:ln/>
        </p:spPr>
      </p:sp>
      <p:sp>
        <p:nvSpPr>
          <p:cNvPr id="6" name="Text 4"/>
          <p:cNvSpPr txBox="1"/>
          <p:nvPr/>
        </p:nvSpPr>
        <p:spPr>
          <a:xfrm>
            <a:off x="77724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77240" y="2331720"/>
            <a:ext cx="306324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Unknown Owner</a:t>
            </a:r>
            <a:endParaRPr lang="en-US" sz="1450" dirty="0"/>
          </a:p>
        </p:txBody>
      </p:sp>
      <p:sp>
        <p:nvSpPr>
          <p:cNvPr id="8" name="Text 6"/>
          <p:cNvSpPr txBox="1"/>
          <p:nvPr/>
        </p:nvSpPr>
        <p:spPr>
          <a:xfrm>
            <a:off x="777240" y="2770632"/>
            <a:ext cx="3063240" cy="502920"/>
          </a:xfrm>
          <a:prstGeom prst="rect">
            <a:avLst/>
          </a:prstGeom>
          <a:noFill/>
          <a:ln/>
        </p:spPr>
        <p:txBody>
          <a:bodyPr wrap="square" lIns="0" tIns="0" rIns="0" bIns="0" rtlCol="0" anchor="ctr"/>
          <a:lstStyle/>
          <a:p>
            <a:pPr marL="0" indent="0">
              <a:lnSpc>
                <a:spcPct val="115000"/>
              </a:lnSpc>
              <a:buNone/>
            </a:pPr>
            <a:r>
              <a:rPr lang="en-US" sz="1100" dirty="0">
                <a:solidFill>
                  <a:srgbClr val="CADCFC"/>
                </a:solidFill>
                <a:latin typeface="Calibri" pitchFamily="34" charset="0"/>
                <a:ea typeface="Calibri" pitchFamily="34" charset="-122"/>
                <a:cs typeface="Calibri" pitchFamily="34" charset="-120"/>
              </a:rPr>
              <a:t>Idle resource with no valid owner identified.</a:t>
            </a:r>
            <a:endParaRPr lang="en-US" sz="1100" dirty="0"/>
          </a:p>
        </p:txBody>
      </p:sp>
      <p:sp>
        <p:nvSpPr>
          <p:cNvPr id="9" name="Text 7"/>
          <p:cNvSpPr txBox="1"/>
          <p:nvPr/>
        </p:nvSpPr>
        <p:spPr>
          <a:xfrm>
            <a:off x="777240" y="3291840"/>
            <a:ext cx="3063240" cy="365760"/>
          </a:xfrm>
          <a:prstGeom prst="rect">
            <a:avLst/>
          </a:prstGeom>
          <a:noFill/>
          <a:ln/>
        </p:spPr>
        <p:txBody>
          <a:bodyPr wrap="square" lIns="0" tIns="0" rIns="0" bIns="0" rtlCol="0" anchor="ctr"/>
          <a:lstStyle/>
          <a:p>
            <a:pPr marL="0" indent="0">
              <a:buNone/>
            </a:pPr>
            <a:r>
              <a:rPr lang="en-US" sz="1100" b="1" i="1" dirty="0">
                <a:solidFill>
                  <a:srgbClr val="8FD3E8"/>
                </a:solidFill>
                <a:latin typeface="Calibri" pitchFamily="34" charset="0"/>
                <a:ea typeface="Calibri" pitchFamily="34" charset="-122"/>
                <a:cs typeface="Calibri" pitchFamily="34" charset="-120"/>
              </a:rPr>
              <a:t>→ Administrator review, not automatic reclamation.</a:t>
            </a:r>
            <a:endParaRPr lang="en-US" sz="1100" dirty="0"/>
          </a:p>
        </p:txBody>
      </p:sp>
      <p:sp>
        <p:nvSpPr>
          <p:cNvPr id="10" name="Shape 8"/>
          <p:cNvSpPr/>
          <p:nvPr/>
        </p:nvSpPr>
        <p:spPr>
          <a:xfrm>
            <a:off x="4297680" y="1600200"/>
            <a:ext cx="3520440" cy="2103120"/>
          </a:xfrm>
          <a:prstGeom prst="roundRect">
            <a:avLst>
              <a:gd name="adj" fmla="val 4348"/>
            </a:avLst>
          </a:prstGeom>
          <a:solidFill>
            <a:srgbClr val="21295C"/>
          </a:solidFill>
          <a:ln/>
        </p:spPr>
      </p:sp>
      <p:sp>
        <p:nvSpPr>
          <p:cNvPr id="11" name="Shape 9"/>
          <p:cNvSpPr/>
          <p:nvPr/>
        </p:nvSpPr>
        <p:spPr>
          <a:xfrm>
            <a:off x="4526280" y="1828800"/>
            <a:ext cx="365760" cy="365760"/>
          </a:xfrm>
          <a:prstGeom prst="ellipse">
            <a:avLst/>
          </a:prstGeom>
          <a:solidFill>
            <a:srgbClr val="C97B2E"/>
          </a:solidFill>
          <a:ln/>
        </p:spPr>
      </p:sp>
      <p:sp>
        <p:nvSpPr>
          <p:cNvPr id="12" name="Text 10"/>
          <p:cNvSpPr txBox="1"/>
          <p:nvPr/>
        </p:nvSpPr>
        <p:spPr>
          <a:xfrm>
            <a:off x="452628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4526280" y="2331720"/>
            <a:ext cx="306324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Active Course, Low Utilisation</a:t>
            </a:r>
            <a:endParaRPr lang="en-US" sz="1450" dirty="0"/>
          </a:p>
        </p:txBody>
      </p:sp>
      <p:sp>
        <p:nvSpPr>
          <p:cNvPr id="14" name="Text 12"/>
          <p:cNvSpPr txBox="1"/>
          <p:nvPr/>
        </p:nvSpPr>
        <p:spPr>
          <a:xfrm>
            <a:off x="4526280" y="2770632"/>
            <a:ext cx="3063240" cy="502920"/>
          </a:xfrm>
          <a:prstGeom prst="rect">
            <a:avLst/>
          </a:prstGeom>
          <a:noFill/>
          <a:ln/>
        </p:spPr>
        <p:txBody>
          <a:bodyPr wrap="square" lIns="0" tIns="0" rIns="0" bIns="0" rtlCol="0" anchor="ctr"/>
          <a:lstStyle/>
          <a:p>
            <a:pPr marL="0" indent="0">
              <a:lnSpc>
                <a:spcPct val="115000"/>
              </a:lnSpc>
              <a:buNone/>
            </a:pPr>
            <a:r>
              <a:rPr lang="en-US" sz="1100" dirty="0">
                <a:solidFill>
                  <a:srgbClr val="CADCFC"/>
                </a:solidFill>
                <a:latin typeface="Calibri" pitchFamily="34" charset="0"/>
                <a:ea typeface="Calibri" pitchFamily="34" charset="-122"/>
                <a:cs typeface="Calibri" pitchFamily="34" charset="-120"/>
              </a:rPr>
              <a:t>Low CPU usage but tied to an active course.</a:t>
            </a:r>
            <a:endParaRPr lang="en-US" sz="1100" dirty="0"/>
          </a:p>
        </p:txBody>
      </p:sp>
      <p:sp>
        <p:nvSpPr>
          <p:cNvPr id="15" name="Text 13"/>
          <p:cNvSpPr txBox="1"/>
          <p:nvPr/>
        </p:nvSpPr>
        <p:spPr>
          <a:xfrm>
            <a:off x="4526280" y="3291840"/>
            <a:ext cx="3063240" cy="365760"/>
          </a:xfrm>
          <a:prstGeom prst="rect">
            <a:avLst/>
          </a:prstGeom>
          <a:noFill/>
          <a:ln/>
        </p:spPr>
        <p:txBody>
          <a:bodyPr wrap="square" lIns="0" tIns="0" rIns="0" bIns="0" rtlCol="0" anchor="ctr"/>
          <a:lstStyle/>
          <a:p>
            <a:pPr marL="0" indent="0">
              <a:buNone/>
            </a:pPr>
            <a:r>
              <a:rPr lang="en-US" sz="1100" b="1" i="1" dirty="0">
                <a:solidFill>
                  <a:srgbClr val="8FD3E8"/>
                </a:solidFill>
                <a:latin typeface="Calibri" pitchFamily="34" charset="0"/>
                <a:ea typeface="Calibri" pitchFamily="34" charset="-122"/>
                <a:cs typeface="Calibri" pitchFamily="34" charset="-120"/>
              </a:rPr>
              <a:t>→ Resource remains protected.</a:t>
            </a:r>
            <a:endParaRPr lang="en-US" sz="1100" dirty="0"/>
          </a:p>
        </p:txBody>
      </p:sp>
      <p:sp>
        <p:nvSpPr>
          <p:cNvPr id="16" name="Shape 14"/>
          <p:cNvSpPr/>
          <p:nvPr/>
        </p:nvSpPr>
        <p:spPr>
          <a:xfrm>
            <a:off x="8046720" y="1600200"/>
            <a:ext cx="3520440" cy="2103120"/>
          </a:xfrm>
          <a:prstGeom prst="roundRect">
            <a:avLst>
              <a:gd name="adj" fmla="val 4348"/>
            </a:avLst>
          </a:prstGeom>
          <a:solidFill>
            <a:srgbClr val="21295C"/>
          </a:solidFill>
          <a:ln/>
        </p:spPr>
      </p:sp>
      <p:sp>
        <p:nvSpPr>
          <p:cNvPr id="17" name="Shape 15"/>
          <p:cNvSpPr/>
          <p:nvPr/>
        </p:nvSpPr>
        <p:spPr>
          <a:xfrm>
            <a:off x="8275320" y="1828800"/>
            <a:ext cx="365760" cy="365760"/>
          </a:xfrm>
          <a:prstGeom prst="ellipse">
            <a:avLst/>
          </a:prstGeom>
          <a:solidFill>
            <a:srgbClr val="C97B2E"/>
          </a:solidFill>
          <a:ln/>
        </p:spPr>
      </p:sp>
      <p:sp>
        <p:nvSpPr>
          <p:cNvPr id="18" name="Text 16"/>
          <p:cNvSpPr txBox="1"/>
          <p:nvPr/>
        </p:nvSpPr>
        <p:spPr>
          <a:xfrm>
            <a:off x="827532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275320" y="2331720"/>
            <a:ext cx="306324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Owner Does Not Respond</a:t>
            </a:r>
            <a:endParaRPr lang="en-US" sz="1450" dirty="0"/>
          </a:p>
        </p:txBody>
      </p:sp>
      <p:sp>
        <p:nvSpPr>
          <p:cNvPr id="20" name="Text 18"/>
          <p:cNvSpPr txBox="1"/>
          <p:nvPr/>
        </p:nvSpPr>
        <p:spPr>
          <a:xfrm>
            <a:off x="8275320" y="2770632"/>
            <a:ext cx="3063240" cy="502920"/>
          </a:xfrm>
          <a:prstGeom prst="rect">
            <a:avLst/>
          </a:prstGeom>
          <a:noFill/>
          <a:ln/>
        </p:spPr>
        <p:txBody>
          <a:bodyPr wrap="square" lIns="0" tIns="0" rIns="0" bIns="0" rtlCol="0" anchor="ctr"/>
          <a:lstStyle/>
          <a:p>
            <a:pPr marL="0" indent="0">
              <a:lnSpc>
                <a:spcPct val="115000"/>
              </a:lnSpc>
              <a:buNone/>
            </a:pPr>
            <a:r>
              <a:rPr lang="en-US" sz="1100" dirty="0">
                <a:solidFill>
                  <a:srgbClr val="CADCFC"/>
                </a:solidFill>
                <a:latin typeface="Calibri" pitchFamily="34" charset="0"/>
                <a:ea typeface="Calibri" pitchFamily="34" charset="-122"/>
                <a:cs typeface="Calibri" pitchFamily="34" charset="-120"/>
              </a:rPr>
              <a:t>No response before the configured expiry period.</a:t>
            </a:r>
            <a:endParaRPr lang="en-US" sz="1100" dirty="0"/>
          </a:p>
        </p:txBody>
      </p:sp>
      <p:sp>
        <p:nvSpPr>
          <p:cNvPr id="21" name="Text 19"/>
          <p:cNvSpPr txBox="1"/>
          <p:nvPr/>
        </p:nvSpPr>
        <p:spPr>
          <a:xfrm>
            <a:off x="8275320" y="3291840"/>
            <a:ext cx="3063240" cy="365760"/>
          </a:xfrm>
          <a:prstGeom prst="rect">
            <a:avLst/>
          </a:prstGeom>
          <a:noFill/>
          <a:ln/>
        </p:spPr>
        <p:txBody>
          <a:bodyPr wrap="square" lIns="0" tIns="0" rIns="0" bIns="0" rtlCol="0" anchor="ctr"/>
          <a:lstStyle/>
          <a:p>
            <a:pPr marL="0" indent="0">
              <a:buNone/>
            </a:pPr>
            <a:r>
              <a:rPr lang="en-US" sz="1100" b="1" i="1" dirty="0">
                <a:solidFill>
                  <a:srgbClr val="8FD3E8"/>
                </a:solidFill>
                <a:latin typeface="Calibri" pitchFamily="34" charset="0"/>
                <a:ea typeface="Calibri" pitchFamily="34" charset="-122"/>
                <a:cs typeface="Calibri" pitchFamily="34" charset="-120"/>
              </a:rPr>
              <a:t>→ Reminder, then controlled reclamation per policy.</a:t>
            </a:r>
            <a:endParaRPr lang="en-US" sz="1100" dirty="0"/>
          </a:p>
        </p:txBody>
      </p:sp>
      <p:sp>
        <p:nvSpPr>
          <p:cNvPr id="22" name="Text 20"/>
          <p:cNvSpPr txBox="1"/>
          <p:nvPr/>
        </p:nvSpPr>
        <p:spPr>
          <a:xfrm>
            <a:off x="548640" y="3977640"/>
            <a:ext cx="5486400" cy="274320"/>
          </a:xfrm>
          <a:prstGeom prst="rect">
            <a:avLst/>
          </a:prstGeom>
          <a:noFill/>
          <a:ln/>
        </p:spPr>
        <p:txBody>
          <a:bodyPr wrap="square" lIns="0" tIns="0" rIns="0" bIns="0"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ADDITIONAL CASES PLANNED</a:t>
            </a:r>
            <a:endParaRPr lang="en-US" sz="1100" dirty="0"/>
          </a:p>
        </p:txBody>
      </p:sp>
      <p:sp>
        <p:nvSpPr>
          <p:cNvPr id="23" name="Shape 21"/>
          <p:cNvSpPr/>
          <p:nvPr/>
        </p:nvSpPr>
        <p:spPr>
          <a:xfrm>
            <a:off x="548640" y="4325112"/>
            <a:ext cx="2805379" cy="365760"/>
          </a:xfrm>
          <a:prstGeom prst="roundRect">
            <a:avLst>
              <a:gd name="adj" fmla="val 50000"/>
            </a:avLst>
          </a:prstGeom>
          <a:solidFill>
            <a:srgbClr val="EAF4FA"/>
          </a:solidFill>
          <a:ln/>
        </p:spPr>
      </p:sp>
      <p:sp>
        <p:nvSpPr>
          <p:cNvPr id="24" name="Text 22"/>
          <p:cNvSpPr txBox="1"/>
          <p:nvPr/>
        </p:nvSpPr>
        <p:spPr>
          <a:xfrm>
            <a:off x="548640" y="4325112"/>
            <a:ext cx="2805379" cy="365760"/>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Owner chooses to keep the resource</a:t>
            </a:r>
            <a:endParaRPr lang="en-US" sz="1050" dirty="0"/>
          </a:p>
        </p:txBody>
      </p:sp>
      <p:sp>
        <p:nvSpPr>
          <p:cNvPr id="25" name="Shape 23"/>
          <p:cNvSpPr/>
          <p:nvPr/>
        </p:nvSpPr>
        <p:spPr>
          <a:xfrm>
            <a:off x="3491179" y="4325112"/>
            <a:ext cx="2280514" cy="365760"/>
          </a:xfrm>
          <a:prstGeom prst="roundRect">
            <a:avLst>
              <a:gd name="adj" fmla="val 50000"/>
            </a:avLst>
          </a:prstGeom>
          <a:solidFill>
            <a:srgbClr val="EAF4FA"/>
          </a:solidFill>
          <a:ln/>
        </p:spPr>
      </p:sp>
      <p:sp>
        <p:nvSpPr>
          <p:cNvPr id="26" name="Text 24"/>
          <p:cNvSpPr txBox="1"/>
          <p:nvPr/>
        </p:nvSpPr>
        <p:spPr>
          <a:xfrm>
            <a:off x="3491179" y="4325112"/>
            <a:ext cx="2280514" cy="365760"/>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Owner requests an extension</a:t>
            </a:r>
            <a:endParaRPr lang="en-US" sz="1050" dirty="0"/>
          </a:p>
        </p:txBody>
      </p:sp>
      <p:sp>
        <p:nvSpPr>
          <p:cNvPr id="27" name="Shape 25"/>
          <p:cNvSpPr/>
          <p:nvPr/>
        </p:nvSpPr>
        <p:spPr>
          <a:xfrm>
            <a:off x="5908853" y="4325112"/>
            <a:ext cx="2955341" cy="365760"/>
          </a:xfrm>
          <a:prstGeom prst="roundRect">
            <a:avLst>
              <a:gd name="adj" fmla="val 50000"/>
            </a:avLst>
          </a:prstGeom>
          <a:solidFill>
            <a:srgbClr val="EAF4FA"/>
          </a:solidFill>
          <a:ln/>
        </p:spPr>
      </p:sp>
      <p:sp>
        <p:nvSpPr>
          <p:cNvPr id="28" name="Text 26"/>
          <p:cNvSpPr txBox="1"/>
          <p:nvPr/>
        </p:nvSpPr>
        <p:spPr>
          <a:xfrm>
            <a:off x="5908853" y="4325112"/>
            <a:ext cx="2955341" cy="365760"/>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Resource becomes active mid-approval</a:t>
            </a:r>
            <a:endParaRPr lang="en-US" sz="1050" dirty="0"/>
          </a:p>
        </p:txBody>
      </p:sp>
      <p:sp>
        <p:nvSpPr>
          <p:cNvPr id="29" name="Shape 27"/>
          <p:cNvSpPr/>
          <p:nvPr/>
        </p:nvSpPr>
        <p:spPr>
          <a:xfrm>
            <a:off x="9001354" y="4325112"/>
            <a:ext cx="1980590" cy="365760"/>
          </a:xfrm>
          <a:prstGeom prst="roundRect">
            <a:avLst>
              <a:gd name="adj" fmla="val 50000"/>
            </a:avLst>
          </a:prstGeom>
          <a:solidFill>
            <a:srgbClr val="EAF4FA"/>
          </a:solidFill>
          <a:ln/>
        </p:spPr>
      </p:sp>
      <p:sp>
        <p:nvSpPr>
          <p:cNvPr id="30" name="Text 28"/>
          <p:cNvSpPr txBox="1"/>
          <p:nvPr/>
        </p:nvSpPr>
        <p:spPr>
          <a:xfrm>
            <a:off x="9001354" y="4325112"/>
            <a:ext cx="1980590" cy="365760"/>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Missing or invalid tags</a:t>
            </a:r>
            <a:endParaRPr lang="en-US" sz="1050" dirty="0"/>
          </a:p>
        </p:txBody>
      </p:sp>
      <p:sp>
        <p:nvSpPr>
          <p:cNvPr id="31" name="Shape 29"/>
          <p:cNvSpPr/>
          <p:nvPr/>
        </p:nvSpPr>
        <p:spPr>
          <a:xfrm>
            <a:off x="548640" y="4782312"/>
            <a:ext cx="2730398" cy="365760"/>
          </a:xfrm>
          <a:prstGeom prst="roundRect">
            <a:avLst>
              <a:gd name="adj" fmla="val 50000"/>
            </a:avLst>
          </a:prstGeom>
          <a:solidFill>
            <a:srgbClr val="EAF4FA"/>
          </a:solidFill>
          <a:ln/>
        </p:spPr>
      </p:sp>
      <p:sp>
        <p:nvSpPr>
          <p:cNvPr id="32" name="Text 30"/>
          <p:cNvSpPr txBox="1"/>
          <p:nvPr/>
        </p:nvSpPr>
        <p:spPr>
          <a:xfrm>
            <a:off x="548640" y="4782312"/>
            <a:ext cx="2730398" cy="365760"/>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Course ended, within grace period</a:t>
            </a:r>
            <a:endParaRPr lang="en-US" sz="1050" dirty="0"/>
          </a:p>
        </p:txBody>
      </p:sp>
      <p:sp>
        <p:nvSpPr>
          <p:cNvPr id="33" name="Shape 31"/>
          <p:cNvSpPr/>
          <p:nvPr/>
        </p:nvSpPr>
        <p:spPr>
          <a:xfrm>
            <a:off x="3416198" y="4782312"/>
            <a:ext cx="1680667" cy="365760"/>
          </a:xfrm>
          <a:prstGeom prst="roundRect">
            <a:avLst>
              <a:gd name="adj" fmla="val 50000"/>
            </a:avLst>
          </a:prstGeom>
          <a:solidFill>
            <a:srgbClr val="EAF4FA"/>
          </a:solidFill>
          <a:ln/>
        </p:spPr>
      </p:sp>
      <p:sp>
        <p:nvSpPr>
          <p:cNvPr id="34" name="Text 32"/>
          <p:cNvSpPr txBox="1"/>
          <p:nvPr/>
        </p:nvSpPr>
        <p:spPr>
          <a:xfrm>
            <a:off x="3416198" y="4782312"/>
            <a:ext cx="1680667" cy="365760"/>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Reclamation failure</a:t>
            </a:r>
            <a:endParaRPr lang="en-US" sz="1050" dirty="0"/>
          </a:p>
        </p:txBody>
      </p:sp>
      <p:sp>
        <p:nvSpPr>
          <p:cNvPr id="35" name="Shape 33"/>
          <p:cNvSpPr/>
          <p:nvPr/>
        </p:nvSpPr>
        <p:spPr>
          <a:xfrm>
            <a:off x="5234026" y="4782312"/>
            <a:ext cx="1980590" cy="365760"/>
          </a:xfrm>
          <a:prstGeom prst="roundRect">
            <a:avLst>
              <a:gd name="adj" fmla="val 50000"/>
            </a:avLst>
          </a:prstGeom>
          <a:solidFill>
            <a:srgbClr val="EAF4FA"/>
          </a:solidFill>
          <a:ln/>
        </p:spPr>
      </p:sp>
      <p:sp>
        <p:nvSpPr>
          <p:cNvPr id="36" name="Text 34"/>
          <p:cNvSpPr txBox="1"/>
          <p:nvPr/>
        </p:nvSpPr>
        <p:spPr>
          <a:xfrm>
            <a:off x="5234026" y="4782312"/>
            <a:ext cx="1980590" cy="365760"/>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Administrative override</a:t>
            </a:r>
            <a:endParaRPr lang="en-US" sz="1050" dirty="0"/>
          </a:p>
        </p:txBody>
      </p:sp>
      <p:sp>
        <p:nvSpPr>
          <p:cNvPr id="37" name="Shape 35"/>
          <p:cNvSpPr/>
          <p:nvPr/>
        </p:nvSpPr>
        <p:spPr>
          <a:xfrm>
            <a:off x="548640" y="5806440"/>
            <a:ext cx="11064240" cy="640080"/>
          </a:xfrm>
          <a:prstGeom prst="roundRect">
            <a:avLst>
              <a:gd name="adj" fmla="val 11429"/>
            </a:avLst>
          </a:prstGeom>
          <a:solidFill>
            <a:srgbClr val="21295C"/>
          </a:solidFill>
          <a:ln/>
        </p:spPr>
      </p:sp>
      <p:sp>
        <p:nvSpPr>
          <p:cNvPr id="38" name="Text 36"/>
          <p:cNvSpPr txBox="1"/>
          <p:nvPr/>
        </p:nvSpPr>
        <p:spPr>
          <a:xfrm>
            <a:off x="777240" y="5806440"/>
            <a:ext cx="10607040" cy="64008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Each case will be scripted into the synthetic dataset and run through the decision engine before implementation is considered complete.</a:t>
            </a:r>
            <a:endParaRPr lang="en-US" sz="1200" dirty="0"/>
          </a:p>
        </p:txBody>
      </p:sp>
      <p:sp>
        <p:nvSpPr>
          <p:cNvPr id="39" name="Text 3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8FD3E8"/>
                </a:solidFill>
                <a:latin typeface="Calibri" pitchFamily="34" charset="0"/>
                <a:ea typeface="Calibri" pitchFamily="34" charset="-122"/>
                <a:cs typeface="Calibri" pitchFamily="34" charset="-120"/>
              </a:rPr>
              <a:t>10  ·  EVALUATION PLAN</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Measuring What Matters</a:t>
            </a:r>
            <a:endParaRPr lang="en-US" sz="3000" dirty="0"/>
          </a:p>
        </p:txBody>
      </p:sp>
      <p:sp>
        <p:nvSpPr>
          <p:cNvPr id="4" name="Shape 2"/>
          <p:cNvSpPr/>
          <p:nvPr/>
        </p:nvSpPr>
        <p:spPr>
          <a:xfrm>
            <a:off x="548640" y="1645920"/>
            <a:ext cx="5120640" cy="1965960"/>
          </a:xfrm>
          <a:prstGeom prst="roundRect">
            <a:avLst>
              <a:gd name="adj" fmla="val 5581"/>
            </a:avLst>
          </a:prstGeom>
          <a:solidFill>
            <a:srgbClr val="1C7293"/>
          </a:solidFill>
          <a:ln/>
        </p:spPr>
      </p:sp>
      <p:sp>
        <p:nvSpPr>
          <p:cNvPr id="5" name="Text 3"/>
          <p:cNvSpPr txBox="1"/>
          <p:nvPr/>
        </p:nvSpPr>
        <p:spPr>
          <a:xfrm>
            <a:off x="822960" y="1828800"/>
            <a:ext cx="4572000" cy="274320"/>
          </a:xfrm>
          <a:prstGeom prst="rect">
            <a:avLst/>
          </a:prstGeom>
          <a:noFill/>
          <a:ln/>
        </p:spPr>
        <p:txBody>
          <a:bodyPr wrap="square" lIns="0" tIns="0" rIns="0" bIns="0" rtlCol="0" anchor="ctr"/>
          <a:lstStyle/>
          <a:p>
            <a:pPr marL="0" indent="0">
              <a:buNone/>
            </a:pPr>
            <a:r>
              <a:rPr lang="en-US" sz="1100" b="1" kern="0" spc="150" dirty="0">
                <a:solidFill>
                  <a:srgbClr val="EAF4FA"/>
                </a:solidFill>
                <a:latin typeface="Calibri" pitchFamily="34" charset="0"/>
                <a:ea typeface="Calibri" pitchFamily="34" charset="-122"/>
                <a:cs typeface="Calibri" pitchFamily="34" charset="-120"/>
              </a:rPr>
              <a:t>PRIMARY METRIC</a:t>
            </a:r>
            <a:endParaRPr lang="en-US" sz="1100" dirty="0"/>
          </a:p>
        </p:txBody>
      </p:sp>
      <p:sp>
        <p:nvSpPr>
          <p:cNvPr id="6" name="Text 4"/>
          <p:cNvSpPr txBox="1"/>
          <p:nvPr/>
        </p:nvSpPr>
        <p:spPr>
          <a:xfrm>
            <a:off x="822960" y="2103120"/>
            <a:ext cx="4572000" cy="1371600"/>
          </a:xfrm>
          <a:prstGeom prst="rect">
            <a:avLst/>
          </a:prstGeom>
          <a:noFill/>
          <a:ln/>
        </p:spPr>
        <p:txBody>
          <a:bodyPr wrap="square" lIns="0" tIns="0" rIns="0" bIns="0" rtlCol="0" anchor="ctr"/>
          <a:lstStyle/>
          <a:p>
            <a:pPr marL="0" indent="0">
              <a:lnSpc>
                <a:spcPct val="105000"/>
              </a:lnSpc>
              <a:buNone/>
            </a:pPr>
            <a:r>
              <a:rPr lang="en-US" sz="3000" b="1" dirty="0">
                <a:solidFill>
                  <a:srgbClr val="FFFFFF"/>
                </a:solidFill>
                <a:latin typeface="Cambria" pitchFamily="34" charset="0"/>
                <a:ea typeface="Cambria" pitchFamily="34" charset="-122"/>
                <a:cs typeface="Cambria" pitchFamily="34" charset="-120"/>
              </a:rPr>
              <a:t>Monthly Idle</a:t>
            </a:r>
            <a:endParaRPr lang="en-US" sz="3000" dirty="0"/>
          </a:p>
          <a:p>
            <a:pPr marL="0" indent="0">
              <a:lnSpc>
                <a:spcPct val="105000"/>
              </a:lnSpc>
              <a:buNone/>
            </a:pPr>
            <a:r>
              <a:rPr lang="en-US" sz="3000" b="1" dirty="0">
                <a:solidFill>
                  <a:srgbClr val="FFFFFF"/>
                </a:solidFill>
                <a:latin typeface="Cambria" pitchFamily="34" charset="0"/>
                <a:ea typeface="Cambria" pitchFamily="34" charset="-122"/>
                <a:cs typeface="Cambria" pitchFamily="34" charset="-120"/>
              </a:rPr>
              <a:t>Cost Eliminated</a:t>
            </a:r>
            <a:endParaRPr lang="en-US" sz="3000" dirty="0"/>
          </a:p>
        </p:txBody>
      </p:sp>
      <p:sp>
        <p:nvSpPr>
          <p:cNvPr id="7" name="Shape 5"/>
          <p:cNvSpPr/>
          <p:nvPr/>
        </p:nvSpPr>
        <p:spPr>
          <a:xfrm>
            <a:off x="5897880" y="1645920"/>
            <a:ext cx="5760720" cy="1965960"/>
          </a:xfrm>
          <a:prstGeom prst="roundRect">
            <a:avLst>
              <a:gd name="adj" fmla="val 5581"/>
            </a:avLst>
          </a:prstGeom>
          <a:solidFill>
            <a:srgbClr val="1FA37A"/>
          </a:solidFill>
          <a:ln/>
        </p:spPr>
      </p:sp>
      <p:sp>
        <p:nvSpPr>
          <p:cNvPr id="8" name="Text 6"/>
          <p:cNvSpPr txBox="1"/>
          <p:nvPr/>
        </p:nvSpPr>
        <p:spPr>
          <a:xfrm>
            <a:off x="6172200" y="1828800"/>
            <a:ext cx="5212080" cy="274320"/>
          </a:xfrm>
          <a:prstGeom prst="rect">
            <a:avLst/>
          </a:prstGeom>
          <a:noFill/>
          <a:ln/>
        </p:spPr>
        <p:txBody>
          <a:bodyPr wrap="square" lIns="0" tIns="0" rIns="0" bIns="0" rtlCol="0" anchor="ctr"/>
          <a:lstStyle/>
          <a:p>
            <a:pPr marL="0" indent="0">
              <a:buNone/>
            </a:pPr>
            <a:r>
              <a:rPr lang="en-US" sz="1100" b="1" kern="0" spc="150" dirty="0">
                <a:solidFill>
                  <a:srgbClr val="EAF4FA"/>
                </a:solidFill>
                <a:latin typeface="Calibri" pitchFamily="34" charset="0"/>
                <a:ea typeface="Calibri" pitchFamily="34" charset="-122"/>
                <a:cs typeface="Calibri" pitchFamily="34" charset="-120"/>
              </a:rPr>
              <a:t>KEY SAFETY TARGET</a:t>
            </a:r>
            <a:endParaRPr lang="en-US" sz="1100" dirty="0"/>
          </a:p>
        </p:txBody>
      </p:sp>
      <p:sp>
        <p:nvSpPr>
          <p:cNvPr id="9" name="Text 7"/>
          <p:cNvSpPr txBox="1"/>
          <p:nvPr/>
        </p:nvSpPr>
        <p:spPr>
          <a:xfrm>
            <a:off x="6172200" y="2148840"/>
            <a:ext cx="5212080" cy="1280160"/>
          </a:xfrm>
          <a:prstGeom prst="rect">
            <a:avLst/>
          </a:prstGeom>
          <a:noFill/>
          <a:ln/>
        </p:spPr>
        <p:txBody>
          <a:bodyPr wrap="square" lIns="0" tIns="0" rIns="0" bIns="0" rtlCol="0" anchor="ctr"/>
          <a:lstStyle/>
          <a:p>
            <a:pPr marL="0" indent="0">
              <a:lnSpc>
                <a:spcPct val="110000"/>
              </a:lnSpc>
              <a:buNone/>
            </a:pPr>
            <a:r>
              <a:rPr lang="en-US" sz="2200" b="1" dirty="0">
                <a:solidFill>
                  <a:srgbClr val="FFFFFF"/>
                </a:solidFill>
                <a:latin typeface="Cambria" pitchFamily="34" charset="0"/>
                <a:ea typeface="Cambria" pitchFamily="34" charset="-122"/>
                <a:cs typeface="Cambria" pitchFamily="34" charset="-120"/>
              </a:rPr>
              <a:t>Active Workloads Incorrectly</a:t>
            </a:r>
            <a:endParaRPr lang="en-US" sz="2200" dirty="0"/>
          </a:p>
          <a:p>
            <a:pPr marL="0" indent="0">
              <a:lnSpc>
                <a:spcPct val="110000"/>
              </a:lnSpc>
              <a:buNone/>
            </a:pPr>
            <a:r>
              <a:rPr lang="en-US" sz="2200" b="1" dirty="0">
                <a:solidFill>
                  <a:srgbClr val="FFFFFF"/>
                </a:solidFill>
                <a:latin typeface="Cambria" pitchFamily="34" charset="0"/>
                <a:ea typeface="Cambria" pitchFamily="34" charset="-122"/>
                <a:cs typeface="Cambria" pitchFamily="34" charset="-120"/>
              </a:rPr>
              <a:t>Stopped or Deleted = 0</a:t>
            </a:r>
            <a:endParaRPr lang="en-US" sz="2200" dirty="0"/>
          </a:p>
        </p:txBody>
      </p:sp>
      <p:sp>
        <p:nvSpPr>
          <p:cNvPr id="10" name="Text 8"/>
          <p:cNvSpPr txBox="1"/>
          <p:nvPr/>
        </p:nvSpPr>
        <p:spPr>
          <a:xfrm>
            <a:off x="548640" y="3886200"/>
            <a:ext cx="5486400" cy="274320"/>
          </a:xfrm>
          <a:prstGeom prst="rect">
            <a:avLst/>
          </a:prstGeom>
          <a:noFill/>
          <a:ln/>
        </p:spPr>
        <p:txBody>
          <a:bodyPr wrap="square" lIns="0" tIns="0" rIns="0" bIns="0" rtlCol="0" anchor="ctr"/>
          <a:lstStyle/>
          <a:p>
            <a:pPr marL="0" indent="0">
              <a:buNone/>
            </a:pPr>
            <a:r>
              <a:rPr lang="en-US" sz="1100" b="1" kern="0" spc="150" dirty="0">
                <a:solidFill>
                  <a:srgbClr val="8FD3E8"/>
                </a:solidFill>
                <a:latin typeface="Calibri" pitchFamily="34" charset="0"/>
                <a:ea typeface="Calibri" pitchFamily="34" charset="-122"/>
                <a:cs typeface="Calibri" pitchFamily="34" charset="-120"/>
              </a:rPr>
              <a:t>COMPARISONS TRACKED</a:t>
            </a:r>
            <a:endParaRPr lang="en-US" sz="1100" dirty="0"/>
          </a:p>
        </p:txBody>
      </p:sp>
      <p:sp>
        <p:nvSpPr>
          <p:cNvPr id="11" name="Shape 9"/>
          <p:cNvSpPr/>
          <p:nvPr/>
        </p:nvSpPr>
        <p:spPr>
          <a:xfrm>
            <a:off x="548640" y="4279392"/>
            <a:ext cx="109728" cy="109728"/>
          </a:xfrm>
          <a:prstGeom prst="ellipse">
            <a:avLst/>
          </a:prstGeom>
          <a:solidFill>
            <a:srgbClr val="8FD3E8"/>
          </a:solidFill>
          <a:ln/>
        </p:spPr>
      </p:sp>
      <p:sp>
        <p:nvSpPr>
          <p:cNvPr id="12" name="Text 10"/>
          <p:cNvSpPr txBox="1"/>
          <p:nvPr/>
        </p:nvSpPr>
        <p:spPr>
          <a:xfrm>
            <a:off x="804672" y="4224528"/>
            <a:ext cx="3291840" cy="384048"/>
          </a:xfrm>
          <a:prstGeom prst="rect">
            <a:avLst/>
          </a:prstGeom>
          <a:noFill/>
          <a:ln/>
        </p:spPr>
        <p:txBody>
          <a:bodyPr wrap="square" lIns="0" tIns="0" rIns="0" bIns="0" rtlCol="0" anchor="ctr"/>
          <a:lstStyle/>
          <a:p>
            <a:pPr marL="0" indent="0">
              <a:buNone/>
            </a:pPr>
            <a:r>
              <a:rPr lang="en-US" sz="1200" dirty="0">
                <a:solidFill>
                  <a:srgbClr val="E6ECFA"/>
                </a:solidFill>
                <a:latin typeface="Calibri" pitchFamily="34" charset="0"/>
                <a:ea typeface="Calibri" pitchFamily="34" charset="-122"/>
                <a:cs typeface="Calibri" pitchFamily="34" charset="-120"/>
              </a:rPr>
              <a:t>Baseline vs. prototype cost savings</a:t>
            </a:r>
            <a:endParaRPr lang="en-US" sz="1200" dirty="0"/>
          </a:p>
        </p:txBody>
      </p:sp>
      <p:sp>
        <p:nvSpPr>
          <p:cNvPr id="13" name="Shape 11"/>
          <p:cNvSpPr/>
          <p:nvPr/>
        </p:nvSpPr>
        <p:spPr>
          <a:xfrm>
            <a:off x="548640" y="4663440"/>
            <a:ext cx="109728" cy="109728"/>
          </a:xfrm>
          <a:prstGeom prst="ellipse">
            <a:avLst/>
          </a:prstGeom>
          <a:solidFill>
            <a:srgbClr val="8FD3E8"/>
          </a:solidFill>
          <a:ln/>
        </p:spPr>
      </p:sp>
      <p:sp>
        <p:nvSpPr>
          <p:cNvPr id="14" name="Text 12"/>
          <p:cNvSpPr txBox="1"/>
          <p:nvPr/>
        </p:nvSpPr>
        <p:spPr>
          <a:xfrm>
            <a:off x="804672" y="4608576"/>
            <a:ext cx="3291840" cy="384048"/>
          </a:xfrm>
          <a:prstGeom prst="rect">
            <a:avLst/>
          </a:prstGeom>
          <a:noFill/>
          <a:ln/>
        </p:spPr>
        <p:txBody>
          <a:bodyPr wrap="square" lIns="0" tIns="0" rIns="0" bIns="0" rtlCol="0" anchor="ctr"/>
          <a:lstStyle/>
          <a:p>
            <a:pPr marL="0" indent="0">
              <a:buNone/>
            </a:pPr>
            <a:r>
              <a:rPr lang="en-US" sz="1200" dirty="0">
                <a:solidFill>
                  <a:srgbClr val="E6ECFA"/>
                </a:solidFill>
                <a:latin typeface="Calibri" pitchFamily="34" charset="0"/>
                <a:ea typeface="Calibri" pitchFamily="34" charset="-122"/>
                <a:cs typeface="Calibri" pitchFamily="34" charset="-120"/>
              </a:rPr>
              <a:t>Resources identified</a:t>
            </a:r>
            <a:endParaRPr lang="en-US" sz="1200" dirty="0"/>
          </a:p>
        </p:txBody>
      </p:sp>
      <p:sp>
        <p:nvSpPr>
          <p:cNvPr id="15" name="Shape 13"/>
          <p:cNvSpPr/>
          <p:nvPr/>
        </p:nvSpPr>
        <p:spPr>
          <a:xfrm>
            <a:off x="548640" y="5047488"/>
            <a:ext cx="109728" cy="109728"/>
          </a:xfrm>
          <a:prstGeom prst="ellipse">
            <a:avLst/>
          </a:prstGeom>
          <a:solidFill>
            <a:srgbClr val="8FD3E8"/>
          </a:solidFill>
          <a:ln/>
        </p:spPr>
      </p:sp>
      <p:sp>
        <p:nvSpPr>
          <p:cNvPr id="16" name="Text 14"/>
          <p:cNvSpPr txBox="1"/>
          <p:nvPr/>
        </p:nvSpPr>
        <p:spPr>
          <a:xfrm>
            <a:off x="804672" y="4992624"/>
            <a:ext cx="3291840" cy="384048"/>
          </a:xfrm>
          <a:prstGeom prst="rect">
            <a:avLst/>
          </a:prstGeom>
          <a:noFill/>
          <a:ln/>
        </p:spPr>
        <p:txBody>
          <a:bodyPr wrap="square" lIns="0" tIns="0" rIns="0" bIns="0" rtlCol="0" anchor="ctr"/>
          <a:lstStyle/>
          <a:p>
            <a:pPr marL="0" indent="0">
              <a:buNone/>
            </a:pPr>
            <a:r>
              <a:rPr lang="en-US" sz="1200" dirty="0">
                <a:solidFill>
                  <a:srgbClr val="E6ECFA"/>
                </a:solidFill>
                <a:latin typeface="Calibri" pitchFamily="34" charset="0"/>
                <a:ea typeface="Calibri" pitchFamily="34" charset="-122"/>
                <a:cs typeface="Calibri" pitchFamily="34" charset="-120"/>
              </a:rPr>
              <a:t>Resources safely reclaimed</a:t>
            </a:r>
            <a:endParaRPr lang="en-US" sz="1200" dirty="0"/>
          </a:p>
        </p:txBody>
      </p:sp>
      <p:sp>
        <p:nvSpPr>
          <p:cNvPr id="17" name="Shape 15"/>
          <p:cNvSpPr/>
          <p:nvPr/>
        </p:nvSpPr>
        <p:spPr>
          <a:xfrm>
            <a:off x="548640" y="5431536"/>
            <a:ext cx="109728" cy="109728"/>
          </a:xfrm>
          <a:prstGeom prst="ellipse">
            <a:avLst/>
          </a:prstGeom>
          <a:solidFill>
            <a:srgbClr val="8FD3E8"/>
          </a:solidFill>
          <a:ln/>
        </p:spPr>
      </p:sp>
      <p:sp>
        <p:nvSpPr>
          <p:cNvPr id="18" name="Text 16"/>
          <p:cNvSpPr txBox="1"/>
          <p:nvPr/>
        </p:nvSpPr>
        <p:spPr>
          <a:xfrm>
            <a:off x="804672" y="5376672"/>
            <a:ext cx="3291840" cy="384048"/>
          </a:xfrm>
          <a:prstGeom prst="rect">
            <a:avLst/>
          </a:prstGeom>
          <a:noFill/>
          <a:ln/>
        </p:spPr>
        <p:txBody>
          <a:bodyPr wrap="square" lIns="0" tIns="0" rIns="0" bIns="0" rtlCol="0" anchor="ctr"/>
          <a:lstStyle/>
          <a:p>
            <a:pPr marL="0" indent="0">
              <a:buNone/>
            </a:pPr>
            <a:r>
              <a:rPr lang="en-US" sz="1200" dirty="0">
                <a:solidFill>
                  <a:srgbClr val="E6ECFA"/>
                </a:solidFill>
                <a:latin typeface="Calibri" pitchFamily="34" charset="0"/>
                <a:ea typeface="Calibri" pitchFamily="34" charset="-122"/>
                <a:cs typeface="Calibri" pitchFamily="34" charset="-120"/>
              </a:rPr>
              <a:t>False positives / false negatives</a:t>
            </a:r>
            <a:endParaRPr lang="en-US" sz="1200" dirty="0"/>
          </a:p>
        </p:txBody>
      </p:sp>
      <p:sp>
        <p:nvSpPr>
          <p:cNvPr id="19" name="Shape 17"/>
          <p:cNvSpPr/>
          <p:nvPr/>
        </p:nvSpPr>
        <p:spPr>
          <a:xfrm>
            <a:off x="4297680" y="4279392"/>
            <a:ext cx="109728" cy="109728"/>
          </a:xfrm>
          <a:prstGeom prst="ellipse">
            <a:avLst/>
          </a:prstGeom>
          <a:solidFill>
            <a:srgbClr val="8FD3E8"/>
          </a:solidFill>
          <a:ln/>
        </p:spPr>
      </p:sp>
      <p:sp>
        <p:nvSpPr>
          <p:cNvPr id="20" name="Text 18"/>
          <p:cNvSpPr txBox="1"/>
          <p:nvPr/>
        </p:nvSpPr>
        <p:spPr>
          <a:xfrm>
            <a:off x="4553712" y="4224528"/>
            <a:ext cx="3291840" cy="384048"/>
          </a:xfrm>
          <a:prstGeom prst="rect">
            <a:avLst/>
          </a:prstGeom>
          <a:noFill/>
          <a:ln/>
        </p:spPr>
        <p:txBody>
          <a:bodyPr wrap="square" lIns="0" tIns="0" rIns="0" bIns="0" rtlCol="0" anchor="ctr"/>
          <a:lstStyle/>
          <a:p>
            <a:pPr marL="0" indent="0">
              <a:buNone/>
            </a:pPr>
            <a:r>
              <a:rPr lang="en-US" sz="1200" dirty="0">
                <a:solidFill>
                  <a:srgbClr val="E6ECFA"/>
                </a:solidFill>
                <a:latin typeface="Calibri" pitchFamily="34" charset="0"/>
                <a:ea typeface="Calibri" pitchFamily="34" charset="-122"/>
                <a:cs typeface="Calibri" pitchFamily="34" charset="-120"/>
              </a:rPr>
              <a:t>Unknown-owner cases</a:t>
            </a:r>
            <a:endParaRPr lang="en-US" sz="1200" dirty="0"/>
          </a:p>
        </p:txBody>
      </p:sp>
      <p:sp>
        <p:nvSpPr>
          <p:cNvPr id="21" name="Shape 19"/>
          <p:cNvSpPr/>
          <p:nvPr/>
        </p:nvSpPr>
        <p:spPr>
          <a:xfrm>
            <a:off x="4297680" y="4663440"/>
            <a:ext cx="109728" cy="109728"/>
          </a:xfrm>
          <a:prstGeom prst="ellipse">
            <a:avLst/>
          </a:prstGeom>
          <a:solidFill>
            <a:srgbClr val="8FD3E8"/>
          </a:solidFill>
          <a:ln/>
        </p:spPr>
      </p:sp>
      <p:sp>
        <p:nvSpPr>
          <p:cNvPr id="22" name="Text 20"/>
          <p:cNvSpPr txBox="1"/>
          <p:nvPr/>
        </p:nvSpPr>
        <p:spPr>
          <a:xfrm>
            <a:off x="4553712" y="4608576"/>
            <a:ext cx="3291840" cy="384048"/>
          </a:xfrm>
          <a:prstGeom prst="rect">
            <a:avLst/>
          </a:prstGeom>
          <a:noFill/>
          <a:ln/>
        </p:spPr>
        <p:txBody>
          <a:bodyPr wrap="square" lIns="0" tIns="0" rIns="0" bIns="0" rtlCol="0" anchor="ctr"/>
          <a:lstStyle/>
          <a:p>
            <a:pPr marL="0" indent="0">
              <a:buNone/>
            </a:pPr>
            <a:r>
              <a:rPr lang="en-US" sz="1200" dirty="0">
                <a:solidFill>
                  <a:srgbClr val="E6ECFA"/>
                </a:solidFill>
                <a:latin typeface="Calibri" pitchFamily="34" charset="0"/>
                <a:ea typeface="Calibri" pitchFamily="34" charset="-122"/>
                <a:cs typeface="Calibri" pitchFamily="34" charset="-120"/>
              </a:rPr>
              <a:t>Approval outcomes</a:t>
            </a:r>
            <a:endParaRPr lang="en-US" sz="1200" dirty="0"/>
          </a:p>
        </p:txBody>
      </p:sp>
      <p:sp>
        <p:nvSpPr>
          <p:cNvPr id="23" name="Shape 21"/>
          <p:cNvSpPr/>
          <p:nvPr/>
        </p:nvSpPr>
        <p:spPr>
          <a:xfrm>
            <a:off x="4297680" y="5047488"/>
            <a:ext cx="109728" cy="109728"/>
          </a:xfrm>
          <a:prstGeom prst="ellipse">
            <a:avLst/>
          </a:prstGeom>
          <a:solidFill>
            <a:srgbClr val="8FD3E8"/>
          </a:solidFill>
          <a:ln/>
        </p:spPr>
      </p:sp>
      <p:sp>
        <p:nvSpPr>
          <p:cNvPr id="24" name="Text 22"/>
          <p:cNvSpPr txBox="1"/>
          <p:nvPr/>
        </p:nvSpPr>
        <p:spPr>
          <a:xfrm>
            <a:off x="4553712" y="4992624"/>
            <a:ext cx="3291840" cy="384048"/>
          </a:xfrm>
          <a:prstGeom prst="rect">
            <a:avLst/>
          </a:prstGeom>
          <a:noFill/>
          <a:ln/>
        </p:spPr>
        <p:txBody>
          <a:bodyPr wrap="square" lIns="0" tIns="0" rIns="0" bIns="0" rtlCol="0" anchor="ctr"/>
          <a:lstStyle/>
          <a:p>
            <a:pPr marL="0" indent="0">
              <a:buNone/>
            </a:pPr>
            <a:r>
              <a:rPr lang="en-US" sz="1200" dirty="0">
                <a:solidFill>
                  <a:srgbClr val="E6ECFA"/>
                </a:solidFill>
                <a:latin typeface="Calibri" pitchFamily="34" charset="0"/>
                <a:ea typeface="Calibri" pitchFamily="34" charset="-122"/>
                <a:cs typeface="Calibri" pitchFamily="34" charset="-120"/>
              </a:rPr>
              <a:t>Active workloads incorrectly affected</a:t>
            </a:r>
            <a:endParaRPr lang="en-US" sz="1200" dirty="0"/>
          </a:p>
        </p:txBody>
      </p:sp>
      <p:sp>
        <p:nvSpPr>
          <p:cNvPr id="25" name="Text 23"/>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8FA3D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11  ·  PROJECT STATUS</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Approximately 35% Complete</a:t>
            </a:r>
            <a:endParaRPr lang="en-US" sz="3000" dirty="0"/>
          </a:p>
        </p:txBody>
      </p:sp>
      <p:sp>
        <p:nvSpPr>
          <p:cNvPr id="4" name="Shape 2"/>
          <p:cNvSpPr/>
          <p:nvPr/>
        </p:nvSpPr>
        <p:spPr>
          <a:xfrm>
            <a:off x="548640" y="1554480"/>
            <a:ext cx="11064240" cy="457200"/>
          </a:xfrm>
          <a:prstGeom prst="roundRect">
            <a:avLst>
              <a:gd name="adj" fmla="val 50000"/>
            </a:avLst>
          </a:prstGeom>
          <a:solidFill>
            <a:srgbClr val="EAF4FA"/>
          </a:solidFill>
          <a:ln/>
        </p:spPr>
      </p:sp>
      <p:sp>
        <p:nvSpPr>
          <p:cNvPr id="5" name="Shape 3"/>
          <p:cNvSpPr/>
          <p:nvPr/>
        </p:nvSpPr>
        <p:spPr>
          <a:xfrm>
            <a:off x="548640" y="1554480"/>
            <a:ext cx="3872484" cy="457200"/>
          </a:xfrm>
          <a:prstGeom prst="roundRect">
            <a:avLst>
              <a:gd name="adj" fmla="val 50000"/>
            </a:avLst>
          </a:prstGeom>
          <a:solidFill>
            <a:srgbClr val="065A82"/>
          </a:solidFill>
          <a:ln/>
        </p:spPr>
      </p:sp>
      <p:sp>
        <p:nvSpPr>
          <p:cNvPr id="6" name="Text 4"/>
          <p:cNvSpPr txBox="1"/>
          <p:nvPr/>
        </p:nvSpPr>
        <p:spPr>
          <a:xfrm>
            <a:off x="548640" y="1554480"/>
            <a:ext cx="3872484"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35%</a:t>
            </a:r>
            <a:endParaRPr lang="en-US" sz="1400" dirty="0"/>
          </a:p>
        </p:txBody>
      </p:sp>
      <p:sp>
        <p:nvSpPr>
          <p:cNvPr id="7" name="Shape 5"/>
          <p:cNvSpPr/>
          <p:nvPr/>
        </p:nvSpPr>
        <p:spPr>
          <a:xfrm>
            <a:off x="548640" y="2331720"/>
            <a:ext cx="5349240" cy="3977640"/>
          </a:xfrm>
          <a:prstGeom prst="roundRect">
            <a:avLst>
              <a:gd name="adj" fmla="val 2299"/>
            </a:avLst>
          </a:prstGeom>
          <a:solidFill>
            <a:srgbClr val="EAF4FA"/>
          </a:solidFill>
          <a:ln/>
        </p:spPr>
      </p:sp>
      <p:sp>
        <p:nvSpPr>
          <p:cNvPr id="8" name="Text 6"/>
          <p:cNvSpPr txBox="1"/>
          <p:nvPr/>
        </p:nvSpPr>
        <p:spPr>
          <a:xfrm>
            <a:off x="868680" y="2560320"/>
            <a:ext cx="4709160" cy="320040"/>
          </a:xfrm>
          <a:prstGeom prst="rect">
            <a:avLst/>
          </a:prstGeom>
          <a:noFill/>
          <a:ln/>
        </p:spPr>
        <p:txBody>
          <a:bodyPr wrap="square" lIns="0" tIns="0" rIns="0" bIns="0" rtlCol="0" anchor="ctr"/>
          <a:lstStyle/>
          <a:p>
            <a:pPr marL="0" indent="0">
              <a:buNone/>
            </a:pPr>
            <a:r>
              <a:rPr lang="en-US" sz="1300" b="1" kern="0" spc="150" dirty="0">
                <a:solidFill>
                  <a:srgbClr val="1FA37A"/>
                </a:solidFill>
                <a:latin typeface="Calibri" pitchFamily="34" charset="0"/>
                <a:ea typeface="Calibri" pitchFamily="34" charset="-122"/>
                <a:cs typeface="Calibri" pitchFamily="34" charset="-120"/>
              </a:rPr>
              <a:t>COMPLETED</a:t>
            </a:r>
            <a:endParaRPr lang="en-US" sz="1300" dirty="0"/>
          </a:p>
        </p:txBody>
      </p:sp>
      <p:sp>
        <p:nvSpPr>
          <p:cNvPr id="9" name="Text 7"/>
          <p:cNvSpPr txBox="1"/>
          <p:nvPr/>
        </p:nvSpPr>
        <p:spPr>
          <a:xfrm>
            <a:off x="868680" y="2953512"/>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1143000" y="2953512"/>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Problem analysis &amp; objectives</a:t>
            </a:r>
            <a:endParaRPr lang="en-US" sz="1150" dirty="0"/>
          </a:p>
        </p:txBody>
      </p:sp>
      <p:sp>
        <p:nvSpPr>
          <p:cNvPr id="11" name="Text 9"/>
          <p:cNvSpPr txBox="1"/>
          <p:nvPr/>
        </p:nvSpPr>
        <p:spPr>
          <a:xfrm>
            <a:off x="868680" y="3259836"/>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1143000" y="3259836"/>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User / role identification</a:t>
            </a:r>
            <a:endParaRPr lang="en-US" sz="1150" dirty="0"/>
          </a:p>
        </p:txBody>
      </p:sp>
      <p:sp>
        <p:nvSpPr>
          <p:cNvPr id="13" name="Text 11"/>
          <p:cNvSpPr txBox="1"/>
          <p:nvPr/>
        </p:nvSpPr>
        <p:spPr>
          <a:xfrm>
            <a:off x="868680" y="3566160"/>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14" name="Text 12"/>
          <p:cNvSpPr txBox="1"/>
          <p:nvPr/>
        </p:nvSpPr>
        <p:spPr>
          <a:xfrm>
            <a:off x="1143000" y="3566160"/>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End-to-end workflow design</a:t>
            </a:r>
            <a:endParaRPr lang="en-US" sz="1150" dirty="0"/>
          </a:p>
        </p:txBody>
      </p:sp>
      <p:sp>
        <p:nvSpPr>
          <p:cNvPr id="15" name="Text 13"/>
          <p:cNvSpPr txBox="1"/>
          <p:nvPr/>
        </p:nvSpPr>
        <p:spPr>
          <a:xfrm>
            <a:off x="868680" y="3872484"/>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1143000" y="3872484"/>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Ownership-aware decision approach</a:t>
            </a:r>
            <a:endParaRPr lang="en-US" sz="1150" dirty="0"/>
          </a:p>
        </p:txBody>
      </p:sp>
      <p:sp>
        <p:nvSpPr>
          <p:cNvPr id="17" name="Text 15"/>
          <p:cNvSpPr txBox="1"/>
          <p:nvPr/>
        </p:nvSpPr>
        <p:spPr>
          <a:xfrm>
            <a:off x="868680" y="4178808"/>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18" name="Text 16"/>
          <p:cNvSpPr txBox="1"/>
          <p:nvPr/>
        </p:nvSpPr>
        <p:spPr>
          <a:xfrm>
            <a:off x="1143000" y="4178808"/>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Safety &amp; approval strategy</a:t>
            </a:r>
            <a:endParaRPr lang="en-US" sz="1150" dirty="0"/>
          </a:p>
        </p:txBody>
      </p:sp>
      <p:sp>
        <p:nvSpPr>
          <p:cNvPr id="19" name="Text 17"/>
          <p:cNvSpPr txBox="1"/>
          <p:nvPr/>
        </p:nvSpPr>
        <p:spPr>
          <a:xfrm>
            <a:off x="868680" y="4485132"/>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20" name="Text 18"/>
          <p:cNvSpPr txBox="1"/>
          <p:nvPr/>
        </p:nvSpPr>
        <p:spPr>
          <a:xfrm>
            <a:off x="1143000" y="4485132"/>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Configurable rule requirements</a:t>
            </a:r>
            <a:endParaRPr lang="en-US" sz="1150" dirty="0"/>
          </a:p>
        </p:txBody>
      </p:sp>
      <p:sp>
        <p:nvSpPr>
          <p:cNvPr id="21" name="Text 19"/>
          <p:cNvSpPr txBox="1"/>
          <p:nvPr/>
        </p:nvSpPr>
        <p:spPr>
          <a:xfrm>
            <a:off x="868680" y="4791456"/>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1143000" y="4791456"/>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Baseline definition</a:t>
            </a:r>
            <a:endParaRPr lang="en-US" sz="1150" dirty="0"/>
          </a:p>
        </p:txBody>
      </p:sp>
      <p:sp>
        <p:nvSpPr>
          <p:cNvPr id="23" name="Text 21"/>
          <p:cNvSpPr txBox="1"/>
          <p:nvPr/>
        </p:nvSpPr>
        <p:spPr>
          <a:xfrm>
            <a:off x="868680" y="5097780"/>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1143000" y="5097780"/>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Dataset structure &amp; design</a:t>
            </a:r>
            <a:endParaRPr lang="en-US" sz="1150" dirty="0"/>
          </a:p>
        </p:txBody>
      </p:sp>
      <p:sp>
        <p:nvSpPr>
          <p:cNvPr id="25" name="Text 23"/>
          <p:cNvSpPr txBox="1"/>
          <p:nvPr/>
        </p:nvSpPr>
        <p:spPr>
          <a:xfrm>
            <a:off x="868680" y="5404104"/>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1143000" y="5404104"/>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Evaluation metrics</a:t>
            </a:r>
            <a:endParaRPr lang="en-US" sz="1150" dirty="0"/>
          </a:p>
        </p:txBody>
      </p:sp>
      <p:sp>
        <p:nvSpPr>
          <p:cNvPr id="27" name="Text 25"/>
          <p:cNvSpPr txBox="1"/>
          <p:nvPr/>
        </p:nvSpPr>
        <p:spPr>
          <a:xfrm>
            <a:off x="868680" y="5710428"/>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1143000" y="5710428"/>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Edge / failure case identification</a:t>
            </a:r>
            <a:endParaRPr lang="en-US" sz="1150" dirty="0"/>
          </a:p>
        </p:txBody>
      </p:sp>
      <p:sp>
        <p:nvSpPr>
          <p:cNvPr id="29" name="Text 27"/>
          <p:cNvSpPr txBox="1"/>
          <p:nvPr/>
        </p:nvSpPr>
        <p:spPr>
          <a:xfrm>
            <a:off x="868680" y="6016752"/>
            <a:ext cx="274320" cy="292608"/>
          </a:xfrm>
          <a:prstGeom prst="rect">
            <a:avLst/>
          </a:prstGeom>
          <a:noFill/>
          <a:ln/>
        </p:spPr>
        <p:txBody>
          <a:bodyPr wrap="square" lIns="0" tIns="0" rIns="0" bIns="0" rtlCol="0" anchor="ctr"/>
          <a:lstStyle/>
          <a:p>
            <a:pPr marL="0" indent="0">
              <a:buNone/>
            </a:pPr>
            <a:r>
              <a:rPr lang="en-US" sz="1200" b="1" dirty="0">
                <a:solidFill>
                  <a:srgbClr val="1FA37A"/>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1143000" y="6016752"/>
            <a:ext cx="4434840" cy="292608"/>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System architecture &amp; PRD</a:t>
            </a:r>
            <a:endParaRPr lang="en-US" sz="1150" dirty="0"/>
          </a:p>
        </p:txBody>
      </p:sp>
      <p:sp>
        <p:nvSpPr>
          <p:cNvPr id="31" name="Shape 29"/>
          <p:cNvSpPr/>
          <p:nvPr/>
        </p:nvSpPr>
        <p:spPr>
          <a:xfrm>
            <a:off x="6263640" y="2331720"/>
            <a:ext cx="5349240" cy="3977640"/>
          </a:xfrm>
          <a:prstGeom prst="roundRect">
            <a:avLst>
              <a:gd name="adj" fmla="val 2299"/>
            </a:avLst>
          </a:prstGeom>
          <a:solidFill>
            <a:srgbClr val="21295C"/>
          </a:solidFill>
          <a:ln/>
        </p:spPr>
      </p:sp>
      <p:sp>
        <p:nvSpPr>
          <p:cNvPr id="32" name="Text 30"/>
          <p:cNvSpPr txBox="1"/>
          <p:nvPr/>
        </p:nvSpPr>
        <p:spPr>
          <a:xfrm>
            <a:off x="6583680" y="2560320"/>
            <a:ext cx="4709160" cy="320040"/>
          </a:xfrm>
          <a:prstGeom prst="rect">
            <a:avLst/>
          </a:prstGeom>
          <a:noFill/>
          <a:ln/>
        </p:spPr>
        <p:txBody>
          <a:bodyPr wrap="square" lIns="0" tIns="0" rIns="0" bIns="0" rtlCol="0" anchor="ctr"/>
          <a:lstStyle/>
          <a:p>
            <a:pPr marL="0" indent="0">
              <a:buNone/>
            </a:pPr>
            <a:r>
              <a:rPr lang="en-US" sz="1300" b="1" kern="0" spc="150" dirty="0">
                <a:solidFill>
                  <a:srgbClr val="C97B2E"/>
                </a:solidFill>
                <a:latin typeface="Calibri" pitchFamily="34" charset="0"/>
                <a:ea typeface="Calibri" pitchFamily="34" charset="-122"/>
                <a:cs typeface="Calibri" pitchFamily="34" charset="-120"/>
              </a:rPr>
              <a:t>PENDING</a:t>
            </a:r>
            <a:endParaRPr lang="en-US" sz="1300" dirty="0"/>
          </a:p>
        </p:txBody>
      </p:sp>
      <p:sp>
        <p:nvSpPr>
          <p:cNvPr id="33" name="Text 31"/>
          <p:cNvSpPr txBox="1"/>
          <p:nvPr/>
        </p:nvSpPr>
        <p:spPr>
          <a:xfrm>
            <a:off x="6583680" y="2953512"/>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34" name="Text 32"/>
          <p:cNvSpPr txBox="1"/>
          <p:nvPr/>
        </p:nvSpPr>
        <p:spPr>
          <a:xfrm>
            <a:off x="6858000" y="2953512"/>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Create synthetic dataset</a:t>
            </a:r>
            <a:endParaRPr lang="en-US" sz="1150" dirty="0"/>
          </a:p>
        </p:txBody>
      </p:sp>
      <p:sp>
        <p:nvSpPr>
          <p:cNvPr id="35" name="Text 33"/>
          <p:cNvSpPr txBox="1"/>
          <p:nvPr/>
        </p:nvSpPr>
        <p:spPr>
          <a:xfrm>
            <a:off x="6583680" y="3259836"/>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36" name="Text 34"/>
          <p:cNvSpPr txBox="1"/>
          <p:nvPr/>
        </p:nvSpPr>
        <p:spPr>
          <a:xfrm>
            <a:off x="6858000" y="3259836"/>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Implement application modules</a:t>
            </a:r>
            <a:endParaRPr lang="en-US" sz="1150" dirty="0"/>
          </a:p>
        </p:txBody>
      </p:sp>
      <p:sp>
        <p:nvSpPr>
          <p:cNvPr id="37" name="Text 35"/>
          <p:cNvSpPr txBox="1"/>
          <p:nvPr/>
        </p:nvSpPr>
        <p:spPr>
          <a:xfrm>
            <a:off x="6583680" y="3566160"/>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38" name="Text 36"/>
          <p:cNvSpPr txBox="1"/>
          <p:nvPr/>
        </p:nvSpPr>
        <p:spPr>
          <a:xfrm>
            <a:off x="6858000" y="3566160"/>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Implement decision / rule engine</a:t>
            </a:r>
            <a:endParaRPr lang="en-US" sz="1150" dirty="0"/>
          </a:p>
        </p:txBody>
      </p:sp>
      <p:sp>
        <p:nvSpPr>
          <p:cNvPr id="39" name="Text 37"/>
          <p:cNvSpPr txBox="1"/>
          <p:nvPr/>
        </p:nvSpPr>
        <p:spPr>
          <a:xfrm>
            <a:off x="6583680" y="3872484"/>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40" name="Text 38"/>
          <p:cNvSpPr txBox="1"/>
          <p:nvPr/>
        </p:nvSpPr>
        <p:spPr>
          <a:xfrm>
            <a:off x="6858000" y="3872484"/>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Implement approval &amp; expiry workflow</a:t>
            </a:r>
            <a:endParaRPr lang="en-US" sz="1150" dirty="0"/>
          </a:p>
        </p:txBody>
      </p:sp>
      <p:sp>
        <p:nvSpPr>
          <p:cNvPr id="41" name="Text 39"/>
          <p:cNvSpPr txBox="1"/>
          <p:nvPr/>
        </p:nvSpPr>
        <p:spPr>
          <a:xfrm>
            <a:off x="6583680" y="4178808"/>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42" name="Text 40"/>
          <p:cNvSpPr txBox="1"/>
          <p:nvPr/>
        </p:nvSpPr>
        <p:spPr>
          <a:xfrm>
            <a:off x="6858000" y="4178808"/>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Implement mock cloud provider</a:t>
            </a:r>
            <a:endParaRPr lang="en-US" sz="1150" dirty="0"/>
          </a:p>
        </p:txBody>
      </p:sp>
      <p:sp>
        <p:nvSpPr>
          <p:cNvPr id="43" name="Text 41"/>
          <p:cNvSpPr txBox="1"/>
          <p:nvPr/>
        </p:nvSpPr>
        <p:spPr>
          <a:xfrm>
            <a:off x="6583680" y="4485132"/>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44" name="Text 42"/>
          <p:cNvSpPr txBox="1"/>
          <p:nvPr/>
        </p:nvSpPr>
        <p:spPr>
          <a:xfrm>
            <a:off x="6858000" y="4485132"/>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Implement user interfaces</a:t>
            </a:r>
            <a:endParaRPr lang="en-US" sz="1150" dirty="0"/>
          </a:p>
        </p:txBody>
      </p:sp>
      <p:sp>
        <p:nvSpPr>
          <p:cNvPr id="45" name="Text 43"/>
          <p:cNvSpPr txBox="1"/>
          <p:nvPr/>
        </p:nvSpPr>
        <p:spPr>
          <a:xfrm>
            <a:off x="6583680" y="4791456"/>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46" name="Text 44"/>
          <p:cNvSpPr txBox="1"/>
          <p:nvPr/>
        </p:nvSpPr>
        <p:spPr>
          <a:xfrm>
            <a:off x="6858000" y="4791456"/>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Implement audit logging</a:t>
            </a:r>
            <a:endParaRPr lang="en-US" sz="1150" dirty="0"/>
          </a:p>
        </p:txBody>
      </p:sp>
      <p:sp>
        <p:nvSpPr>
          <p:cNvPr id="47" name="Text 45"/>
          <p:cNvSpPr txBox="1"/>
          <p:nvPr/>
        </p:nvSpPr>
        <p:spPr>
          <a:xfrm>
            <a:off x="6583680" y="5097780"/>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48" name="Text 46"/>
          <p:cNvSpPr txBox="1"/>
          <p:nvPr/>
        </p:nvSpPr>
        <p:spPr>
          <a:xfrm>
            <a:off x="6858000" y="5097780"/>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Implement baseline evaluation</a:t>
            </a:r>
            <a:endParaRPr lang="en-US" sz="1150" dirty="0"/>
          </a:p>
        </p:txBody>
      </p:sp>
      <p:sp>
        <p:nvSpPr>
          <p:cNvPr id="49" name="Text 47"/>
          <p:cNvSpPr txBox="1"/>
          <p:nvPr/>
        </p:nvSpPr>
        <p:spPr>
          <a:xfrm>
            <a:off x="6583680" y="5404104"/>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50" name="Text 48"/>
          <p:cNvSpPr txBox="1"/>
          <p:nvPr/>
        </p:nvSpPr>
        <p:spPr>
          <a:xfrm>
            <a:off x="6858000" y="5404104"/>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Run full experiment &amp; failure tests</a:t>
            </a:r>
            <a:endParaRPr lang="en-US" sz="1150" dirty="0"/>
          </a:p>
        </p:txBody>
      </p:sp>
      <p:sp>
        <p:nvSpPr>
          <p:cNvPr id="51" name="Text 49"/>
          <p:cNvSpPr txBox="1"/>
          <p:nvPr/>
        </p:nvSpPr>
        <p:spPr>
          <a:xfrm>
            <a:off x="6583680" y="5710428"/>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52" name="Text 50"/>
          <p:cNvSpPr txBox="1"/>
          <p:nvPr/>
        </p:nvSpPr>
        <p:spPr>
          <a:xfrm>
            <a:off x="6858000" y="5710428"/>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Stakeholder / user validation</a:t>
            </a:r>
            <a:endParaRPr lang="en-US" sz="1150" dirty="0"/>
          </a:p>
        </p:txBody>
      </p:sp>
      <p:sp>
        <p:nvSpPr>
          <p:cNvPr id="53" name="Text 51"/>
          <p:cNvSpPr txBox="1"/>
          <p:nvPr/>
        </p:nvSpPr>
        <p:spPr>
          <a:xfrm>
            <a:off x="6583680" y="6016752"/>
            <a:ext cx="274320" cy="292608"/>
          </a:xfrm>
          <a:prstGeom prst="rect">
            <a:avLst/>
          </a:prstGeom>
          <a:noFill/>
          <a:ln/>
        </p:spPr>
        <p:txBody>
          <a:bodyPr wrap="square" lIns="0" tIns="0" rIns="0" bIns="0" rtlCol="0" anchor="ctr"/>
          <a:lstStyle/>
          <a:p>
            <a:pPr marL="0" indent="0">
              <a:buNone/>
            </a:pPr>
            <a:r>
              <a:rPr lang="en-US" sz="1200" b="1" dirty="0">
                <a:solidFill>
                  <a:srgbClr val="C97B2E"/>
                </a:solidFill>
                <a:latin typeface="Calibri" pitchFamily="34" charset="0"/>
                <a:ea typeface="Calibri" pitchFamily="34" charset="-122"/>
                <a:cs typeface="Calibri" pitchFamily="34" charset="-120"/>
              </a:rPr>
              <a:t>○</a:t>
            </a:r>
            <a:endParaRPr lang="en-US" sz="1200" dirty="0"/>
          </a:p>
        </p:txBody>
      </p:sp>
      <p:sp>
        <p:nvSpPr>
          <p:cNvPr id="54" name="Text 52"/>
          <p:cNvSpPr txBox="1"/>
          <p:nvPr/>
        </p:nvSpPr>
        <p:spPr>
          <a:xfrm>
            <a:off x="6858000" y="6016752"/>
            <a:ext cx="4434840" cy="292608"/>
          </a:xfrm>
          <a:prstGeom prst="rect">
            <a:avLst/>
          </a:prstGeom>
          <a:noFill/>
          <a:ln/>
        </p:spPr>
        <p:txBody>
          <a:bodyPr wrap="square" lIns="0" tIns="0" rIns="0" bIns="0" rtlCol="0" anchor="ctr"/>
          <a:lstStyle/>
          <a:p>
            <a:pPr marL="0" indent="0">
              <a:buNone/>
            </a:pPr>
            <a:r>
              <a:rPr lang="en-US" sz="1150" dirty="0">
                <a:solidFill>
                  <a:srgbClr val="E6ECFA"/>
                </a:solidFill>
                <a:latin typeface="Calibri" pitchFamily="34" charset="0"/>
                <a:ea typeface="Calibri" pitchFamily="34" charset="-122"/>
                <a:cs typeface="Calibri" pitchFamily="34" charset="-120"/>
              </a:rPr>
              <a:t>Final evaluation report, demo video &amp; docs</a:t>
            </a:r>
            <a:endParaRPr lang="en-US" sz="1150" dirty="0"/>
          </a:p>
        </p:txBody>
      </p:sp>
      <p:sp>
        <p:nvSpPr>
          <p:cNvPr id="55" name="Text 53"/>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12  ·  NEXT STEPS</a:t>
            </a:r>
            <a:endParaRPr lang="en-US" sz="12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Building the End-to-End Prototype</a:t>
            </a:r>
            <a:endParaRPr lang="en-US" sz="30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The next phase converts the current design into a working, measurable system.</a:t>
            </a:r>
            <a:endParaRPr lang="en-US" sz="1300" dirty="0"/>
          </a:p>
        </p:txBody>
      </p:sp>
      <p:sp>
        <p:nvSpPr>
          <p:cNvPr id="5" name="Shape 3"/>
          <p:cNvSpPr/>
          <p:nvPr/>
        </p:nvSpPr>
        <p:spPr>
          <a:xfrm>
            <a:off x="548640" y="2011680"/>
            <a:ext cx="402336" cy="402336"/>
          </a:xfrm>
          <a:prstGeom prst="ellipse">
            <a:avLst/>
          </a:prstGeom>
          <a:solidFill>
            <a:srgbClr val="065A82"/>
          </a:solidFill>
          <a:ln/>
        </p:spPr>
      </p:sp>
      <p:sp>
        <p:nvSpPr>
          <p:cNvPr id="6" name="Text 4"/>
          <p:cNvSpPr txBox="1"/>
          <p:nvPr/>
        </p:nvSpPr>
        <p:spPr>
          <a:xfrm>
            <a:off x="548640" y="20116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43000" y="1938528"/>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1295C"/>
                </a:solidFill>
                <a:latin typeface="Calibri" pitchFamily="34" charset="0"/>
                <a:ea typeface="Calibri" pitchFamily="34" charset="-122"/>
                <a:cs typeface="Calibri" pitchFamily="34" charset="-120"/>
              </a:rPr>
              <a:t>Generate and clean the synthetic resource, utilisation, owner, tag, cost, and calendar data</a:t>
            </a:r>
            <a:endParaRPr lang="en-US" sz="1350" dirty="0"/>
          </a:p>
        </p:txBody>
      </p:sp>
      <p:sp>
        <p:nvSpPr>
          <p:cNvPr id="8" name="Shape 6"/>
          <p:cNvSpPr/>
          <p:nvPr/>
        </p:nvSpPr>
        <p:spPr>
          <a:xfrm>
            <a:off x="548640" y="2615184"/>
            <a:ext cx="402336" cy="402336"/>
          </a:xfrm>
          <a:prstGeom prst="ellipse">
            <a:avLst/>
          </a:prstGeom>
          <a:solidFill>
            <a:srgbClr val="1C7293"/>
          </a:solidFill>
          <a:ln/>
        </p:spPr>
      </p:sp>
      <p:sp>
        <p:nvSpPr>
          <p:cNvPr id="9" name="Text 7"/>
          <p:cNvSpPr txBox="1"/>
          <p:nvPr/>
        </p:nvSpPr>
        <p:spPr>
          <a:xfrm>
            <a:off x="548640" y="26151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43000" y="2542032"/>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1295C"/>
                </a:solidFill>
                <a:latin typeface="Calibri" pitchFamily="34" charset="0"/>
                <a:ea typeface="Calibri" pitchFamily="34" charset="-122"/>
                <a:cs typeface="Calibri" pitchFamily="34" charset="-120"/>
              </a:rPr>
              <a:t>Implement the idle-resource detection and ownership-aware decision engine</a:t>
            </a:r>
            <a:endParaRPr lang="en-US" sz="1350" dirty="0"/>
          </a:p>
        </p:txBody>
      </p:sp>
      <p:sp>
        <p:nvSpPr>
          <p:cNvPr id="11" name="Shape 9"/>
          <p:cNvSpPr/>
          <p:nvPr/>
        </p:nvSpPr>
        <p:spPr>
          <a:xfrm>
            <a:off x="548640" y="3218688"/>
            <a:ext cx="402336" cy="402336"/>
          </a:xfrm>
          <a:prstGeom prst="ellipse">
            <a:avLst/>
          </a:prstGeom>
          <a:solidFill>
            <a:srgbClr val="065A82"/>
          </a:solidFill>
          <a:ln/>
        </p:spPr>
      </p:sp>
      <p:sp>
        <p:nvSpPr>
          <p:cNvPr id="12" name="Text 10"/>
          <p:cNvSpPr txBox="1"/>
          <p:nvPr/>
        </p:nvSpPr>
        <p:spPr>
          <a:xfrm>
            <a:off x="548640" y="321868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43000" y="3145536"/>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1295C"/>
                </a:solidFill>
                <a:latin typeface="Calibri" pitchFamily="34" charset="0"/>
                <a:ea typeface="Calibri" pitchFamily="34" charset="-122"/>
                <a:cs typeface="Calibri" pitchFamily="34" charset="-120"/>
              </a:rPr>
              <a:t>Implement approval, reminder, expiry, and safe reclamation states</a:t>
            </a:r>
            <a:endParaRPr lang="en-US" sz="1350" dirty="0"/>
          </a:p>
        </p:txBody>
      </p:sp>
      <p:sp>
        <p:nvSpPr>
          <p:cNvPr id="14" name="Shape 12"/>
          <p:cNvSpPr/>
          <p:nvPr/>
        </p:nvSpPr>
        <p:spPr>
          <a:xfrm>
            <a:off x="548640" y="3822192"/>
            <a:ext cx="402336" cy="402336"/>
          </a:xfrm>
          <a:prstGeom prst="ellipse">
            <a:avLst/>
          </a:prstGeom>
          <a:solidFill>
            <a:srgbClr val="1C7293"/>
          </a:solidFill>
          <a:ln/>
        </p:spPr>
      </p:sp>
      <p:sp>
        <p:nvSpPr>
          <p:cNvPr id="15" name="Text 13"/>
          <p:cNvSpPr txBox="1"/>
          <p:nvPr/>
        </p:nvSpPr>
        <p:spPr>
          <a:xfrm>
            <a:off x="548640" y="382219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143000" y="3749040"/>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1295C"/>
                </a:solidFill>
                <a:latin typeface="Calibri" pitchFamily="34" charset="0"/>
                <a:ea typeface="Calibri" pitchFamily="34" charset="-122"/>
                <a:cs typeface="Calibri" pitchFamily="34" charset="-120"/>
              </a:rPr>
              <a:t>Implement role-based interfaces for resource owner and cloud administrator</a:t>
            </a:r>
            <a:endParaRPr lang="en-US" sz="1350" dirty="0"/>
          </a:p>
        </p:txBody>
      </p:sp>
      <p:sp>
        <p:nvSpPr>
          <p:cNvPr id="17" name="Shape 15"/>
          <p:cNvSpPr/>
          <p:nvPr/>
        </p:nvSpPr>
        <p:spPr>
          <a:xfrm>
            <a:off x="548640" y="4425696"/>
            <a:ext cx="402336" cy="402336"/>
          </a:xfrm>
          <a:prstGeom prst="ellipse">
            <a:avLst/>
          </a:prstGeom>
          <a:solidFill>
            <a:srgbClr val="065A82"/>
          </a:solidFill>
          <a:ln/>
        </p:spPr>
      </p:sp>
      <p:sp>
        <p:nvSpPr>
          <p:cNvPr id="18" name="Text 16"/>
          <p:cNvSpPr txBox="1"/>
          <p:nvPr/>
        </p:nvSpPr>
        <p:spPr>
          <a:xfrm>
            <a:off x="548640" y="442569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143000" y="4352544"/>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1295C"/>
                </a:solidFill>
                <a:latin typeface="Calibri" pitchFamily="34" charset="0"/>
                <a:ea typeface="Calibri" pitchFamily="34" charset="-122"/>
                <a:cs typeface="Calibri" pitchFamily="34" charset="-120"/>
              </a:rPr>
              <a:t>Implement the baseline and run measurable experiments</a:t>
            </a:r>
            <a:endParaRPr lang="en-US" sz="1350" dirty="0"/>
          </a:p>
        </p:txBody>
      </p:sp>
      <p:sp>
        <p:nvSpPr>
          <p:cNvPr id="20" name="Shape 18"/>
          <p:cNvSpPr/>
          <p:nvPr/>
        </p:nvSpPr>
        <p:spPr>
          <a:xfrm>
            <a:off x="548640" y="5029200"/>
            <a:ext cx="402336" cy="402336"/>
          </a:xfrm>
          <a:prstGeom prst="ellipse">
            <a:avLst/>
          </a:prstGeom>
          <a:solidFill>
            <a:srgbClr val="1C7293"/>
          </a:solidFill>
          <a:ln/>
        </p:spPr>
      </p:sp>
      <p:sp>
        <p:nvSpPr>
          <p:cNvPr id="21" name="Text 19"/>
          <p:cNvSpPr txBox="1"/>
          <p:nvPr/>
        </p:nvSpPr>
        <p:spPr>
          <a:xfrm>
            <a:off x="548640" y="50292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2" name="Text 20"/>
          <p:cNvSpPr txBox="1"/>
          <p:nvPr/>
        </p:nvSpPr>
        <p:spPr>
          <a:xfrm>
            <a:off x="1143000" y="4956048"/>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1295C"/>
                </a:solidFill>
                <a:latin typeface="Calibri" pitchFamily="34" charset="0"/>
                <a:ea typeface="Calibri" pitchFamily="34" charset="-122"/>
                <a:cs typeface="Calibri" pitchFamily="34" charset="-120"/>
              </a:rPr>
              <a:t>Execute the edge / failure tests and analyse errors</a:t>
            </a:r>
            <a:endParaRPr lang="en-US" sz="1350" dirty="0"/>
          </a:p>
        </p:txBody>
      </p:sp>
      <p:sp>
        <p:nvSpPr>
          <p:cNvPr id="23" name="Shape 21"/>
          <p:cNvSpPr/>
          <p:nvPr/>
        </p:nvSpPr>
        <p:spPr>
          <a:xfrm>
            <a:off x="548640" y="5632704"/>
            <a:ext cx="402336" cy="402336"/>
          </a:xfrm>
          <a:prstGeom prst="ellipse">
            <a:avLst/>
          </a:prstGeom>
          <a:solidFill>
            <a:srgbClr val="065A82"/>
          </a:solidFill>
          <a:ln/>
        </p:spPr>
      </p:sp>
      <p:sp>
        <p:nvSpPr>
          <p:cNvPr id="24" name="Text 22"/>
          <p:cNvSpPr txBox="1"/>
          <p:nvPr/>
        </p:nvSpPr>
        <p:spPr>
          <a:xfrm>
            <a:off x="548640" y="563270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5" name="Text 23"/>
          <p:cNvSpPr txBox="1"/>
          <p:nvPr/>
        </p:nvSpPr>
        <p:spPr>
          <a:xfrm>
            <a:off x="1143000" y="5559552"/>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1295C"/>
                </a:solidFill>
                <a:latin typeface="Calibri" pitchFamily="34" charset="0"/>
                <a:ea typeface="Calibri" pitchFamily="34" charset="-122"/>
                <a:cs typeface="Calibri" pitchFamily="34" charset="-120"/>
              </a:rPr>
              <a:t>Measure monthly idle cost eliminated while verifying active workloads stay protected</a:t>
            </a:r>
            <a:endParaRPr lang="en-US" sz="1350" dirty="0"/>
          </a:p>
        </p:txBody>
      </p:sp>
      <p:sp>
        <p:nvSpPr>
          <p:cNvPr id="26" name="Text 24"/>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0AEC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1154</Words>
  <Application>Microsoft Office PowerPoint</Application>
  <PresentationFormat>Widescreen</PresentationFormat>
  <Paragraphs>330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Sanjo Thomas</cp:lastModifiedBy>
  <cp:revision>2</cp:revision>
  <dcterms:created xsi:type="dcterms:W3CDTF">2026-09-04T08:52:50Z</dcterms:created>
  <dcterms:modified xsi:type="dcterms:W3CDTF">2026-09-04T08:54:45Z</dcterms:modified>
</cp:coreProperties>
</file>